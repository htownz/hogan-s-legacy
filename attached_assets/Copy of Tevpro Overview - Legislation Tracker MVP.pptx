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10287000" cx="18288000"/>
  <p:notesSz cx="6858000" cy="9144000"/>
  <p:embeddedFontLst>
    <p:embeddedFont>
      <p:font typeface="Arimo"/>
      <p:regular r:id="rId19"/>
      <p:bold r:id="rId20"/>
      <p:italic r:id="rId21"/>
      <p:boldItalic r:id="rId22"/>
    </p:embeddedFont>
    <p:embeddedFont>
      <p:font typeface="Open Sans SemiBold"/>
      <p:regular r:id="rId23"/>
      <p:bold r:id="rId24"/>
      <p:italic r:id="rId25"/>
      <p:boldItalic r:id="rId26"/>
    </p:embeddedFont>
    <p:embeddedFont>
      <p:font typeface="Open Sans Medium"/>
      <p:regular r:id="rId27"/>
      <p:bold r:id="rId28"/>
      <p:italic r:id="rId29"/>
      <p:boldItalic r:id="rId30"/>
    </p:embeddedFont>
    <p:embeddedFont>
      <p:font typeface="Open Sans Light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WKfF1Idc7w4lRVMVRt5I4r2RC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CBB7F8-54B3-4F80-ADF6-A66CC9201D0E}">
  <a:tblStyle styleId="{21CBB7F8-54B3-4F80-ADF6-A66CC9201D0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OpenSansSemiBold-bold.fntdata"/><Relationship Id="rId23" Type="http://schemas.openxmlformats.org/officeDocument/2006/relationships/font" Target="fonts/Open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OpenSansSemiBold-boldItalic.fntdata"/><Relationship Id="rId25" Type="http://schemas.openxmlformats.org/officeDocument/2006/relationships/font" Target="fonts/OpenSansSemiBold-italic.fntdata"/><Relationship Id="rId28" Type="http://schemas.openxmlformats.org/officeDocument/2006/relationships/font" Target="fonts/OpenSansMedium-bold.fntdata"/><Relationship Id="rId27" Type="http://schemas.openxmlformats.org/officeDocument/2006/relationships/font" Target="fonts/OpenSansMedium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Medium-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Light-regular.fntdata"/><Relationship Id="rId30" Type="http://schemas.openxmlformats.org/officeDocument/2006/relationships/font" Target="fonts/OpenSansMedium-boldItalic.fntdata"/><Relationship Id="rId11" Type="http://schemas.openxmlformats.org/officeDocument/2006/relationships/slide" Target="slides/slide3.xml"/><Relationship Id="rId33" Type="http://schemas.openxmlformats.org/officeDocument/2006/relationships/font" Target="fonts/OpenSansLight-italic.fntdata"/><Relationship Id="rId10" Type="http://schemas.openxmlformats.org/officeDocument/2006/relationships/slide" Target="slides/slide2.xml"/><Relationship Id="rId32" Type="http://schemas.openxmlformats.org/officeDocument/2006/relationships/font" Target="fonts/OpenSansLight-bold.fntdata"/><Relationship Id="rId13" Type="http://schemas.openxmlformats.org/officeDocument/2006/relationships/slide" Target="slides/slide5.xml"/><Relationship Id="rId35" Type="http://schemas.openxmlformats.org/officeDocument/2006/relationships/font" Target="fonts/OpenSans-regular.fntdata"/><Relationship Id="rId12" Type="http://schemas.openxmlformats.org/officeDocument/2006/relationships/slide" Target="slides/slide4.xml"/><Relationship Id="rId34" Type="http://schemas.openxmlformats.org/officeDocument/2006/relationships/font" Target="fonts/OpenSansLight-boldItalic.fntdata"/><Relationship Id="rId15" Type="http://schemas.openxmlformats.org/officeDocument/2006/relationships/slide" Target="slides/slide7.xml"/><Relationship Id="rId37" Type="http://schemas.openxmlformats.org/officeDocument/2006/relationships/font" Target="fonts/OpenSans-italic.fntdata"/><Relationship Id="rId14" Type="http://schemas.openxmlformats.org/officeDocument/2006/relationships/slide" Target="slides/slide6.xml"/><Relationship Id="rId36" Type="http://schemas.openxmlformats.org/officeDocument/2006/relationships/font" Target="fonts/OpenSans-bold.fntdata"/><Relationship Id="rId17" Type="http://schemas.openxmlformats.org/officeDocument/2006/relationships/slide" Target="slides/slide9.xml"/><Relationship Id="rId39" Type="http://customschemas.google.com/relationships/presentationmetadata" Target="metadata"/><Relationship Id="rId16" Type="http://schemas.openxmlformats.org/officeDocument/2006/relationships/slide" Target="slides/slide8.xml"/><Relationship Id="rId38" Type="http://schemas.openxmlformats.org/officeDocument/2006/relationships/font" Target="fonts/OpenSans-boldItalic.fntdata"/><Relationship Id="rId19" Type="http://schemas.openxmlformats.org/officeDocument/2006/relationships/font" Target="fonts/Arimo-regular.fntdata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UAT</a:t>
            </a:r>
            <a:endParaRPr/>
          </a:p>
        </p:txBody>
      </p:sp>
      <p:sp>
        <p:nvSpPr>
          <p:cNvPr id="333" name="Google Shape;333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5" name="Google Shape;115;p30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31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31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31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3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33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3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4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5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6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8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8" name="Google Shape;178;p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0" name="Google Shape;190;p40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1" name="Google Shape;191;p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1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41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8" name="Google Shape;198;p41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41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0" name="Google Shape;200;p4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3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1" name="Google Shape;211;p43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44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9" name="Google Shape;219;p4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5"/>
          <p:cNvSpPr txBox="1"/>
          <p:nvPr>
            <p:ph idx="1" type="body"/>
          </p:nvPr>
        </p:nvSpPr>
        <p:spPr>
          <a:xfrm rot="5400000">
            <a:off x="2308949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6"/>
          <p:cNvSpPr txBox="1"/>
          <p:nvPr>
            <p:ph type="title"/>
          </p:nvPr>
        </p:nvSpPr>
        <p:spPr>
          <a:xfrm rot="5400000">
            <a:off x="4732349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6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4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1.png"/><Relationship Id="rId5" Type="http://schemas.openxmlformats.org/officeDocument/2006/relationships/image" Target="../media/image38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11" Type="http://schemas.openxmlformats.org/officeDocument/2006/relationships/image" Target="../media/image16.png"/><Relationship Id="rId22" Type="http://schemas.openxmlformats.org/officeDocument/2006/relationships/image" Target="../media/image31.jpg"/><Relationship Id="rId10" Type="http://schemas.openxmlformats.org/officeDocument/2006/relationships/image" Target="../media/image3.png"/><Relationship Id="rId21" Type="http://schemas.openxmlformats.org/officeDocument/2006/relationships/image" Target="../media/image19.png"/><Relationship Id="rId13" Type="http://schemas.openxmlformats.org/officeDocument/2006/relationships/image" Target="../media/image5.png"/><Relationship Id="rId12" Type="http://schemas.openxmlformats.org/officeDocument/2006/relationships/image" Target="../media/image14.jpg"/><Relationship Id="rId2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7.gif"/><Relationship Id="rId9" Type="http://schemas.openxmlformats.org/officeDocument/2006/relationships/image" Target="../media/image8.png"/><Relationship Id="rId15" Type="http://schemas.openxmlformats.org/officeDocument/2006/relationships/image" Target="../media/image7.jpg"/><Relationship Id="rId14" Type="http://schemas.openxmlformats.org/officeDocument/2006/relationships/image" Target="../media/image28.png"/><Relationship Id="rId17" Type="http://schemas.openxmlformats.org/officeDocument/2006/relationships/image" Target="../media/image12.png"/><Relationship Id="rId16" Type="http://schemas.openxmlformats.org/officeDocument/2006/relationships/image" Target="../media/image18.png"/><Relationship Id="rId5" Type="http://schemas.openxmlformats.org/officeDocument/2006/relationships/image" Target="../media/image10.png"/><Relationship Id="rId19" Type="http://schemas.openxmlformats.org/officeDocument/2006/relationships/image" Target="../media/image13.png"/><Relationship Id="rId6" Type="http://schemas.openxmlformats.org/officeDocument/2006/relationships/image" Target="../media/image2.jpg"/><Relationship Id="rId18" Type="http://schemas.openxmlformats.org/officeDocument/2006/relationships/image" Target="../media/image38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3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image" Target="../media/image2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.png"/><Relationship Id="rId5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jpg"/><Relationship Id="rId4" Type="http://schemas.openxmlformats.org/officeDocument/2006/relationships/image" Target="../media/image34.png"/><Relationship Id="rId5" Type="http://schemas.openxmlformats.org/officeDocument/2006/relationships/image" Target="../media/image1.png"/><Relationship Id="rId6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jpg"/><Relationship Id="rId4" Type="http://schemas.openxmlformats.org/officeDocument/2006/relationships/image" Target="../media/image32.png"/><Relationship Id="rId5" Type="http://schemas.openxmlformats.org/officeDocument/2006/relationships/image" Target="../media/image1.png"/><Relationship Id="rId6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jpg"/><Relationship Id="rId4" Type="http://schemas.openxmlformats.org/officeDocument/2006/relationships/image" Target="../media/image32.png"/><Relationship Id="rId5" Type="http://schemas.openxmlformats.org/officeDocument/2006/relationships/image" Target="../media/image1.png"/><Relationship Id="rId6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jpg"/><Relationship Id="rId4" Type="http://schemas.openxmlformats.org/officeDocument/2006/relationships/image" Target="../media/image34.png"/><Relationship Id="rId5" Type="http://schemas.openxmlformats.org/officeDocument/2006/relationships/image" Target="../media/image1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"/>
          <p:cNvPicPr preferRelativeResize="0"/>
          <p:nvPr/>
        </p:nvPicPr>
        <p:blipFill rotWithShape="1">
          <a:blip r:embed="rId3">
            <a:alphaModFix/>
          </a:blip>
          <a:srcRect b="8525" l="0" r="0" t="8525"/>
          <a:stretch/>
        </p:blipFill>
        <p:spPr>
          <a:xfrm>
            <a:off x="16329" y="0"/>
            <a:ext cx="18288001" cy="1028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1887199" y="3872947"/>
            <a:ext cx="6414051" cy="6414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"/>
          <p:cNvSpPr/>
          <p:nvPr/>
        </p:nvSpPr>
        <p:spPr>
          <a:xfrm>
            <a:off x="1028700" y="1028700"/>
            <a:ext cx="11490047" cy="1070926"/>
          </a:xfrm>
          <a:prstGeom prst="rect">
            <a:avLst/>
          </a:prstGeom>
          <a:solidFill>
            <a:srgbClr val="00B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696" y="4648920"/>
            <a:ext cx="5857340" cy="14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"/>
          <p:cNvSpPr txBox="1"/>
          <p:nvPr/>
        </p:nvSpPr>
        <p:spPr>
          <a:xfrm>
            <a:off x="1361919" y="4492670"/>
            <a:ext cx="12006000" cy="4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3999" u="none" cap="none" strike="noStrike">
              <a:solidFill>
                <a:srgbClr val="EBFD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3999" u="none" cap="none" strike="noStrike">
              <a:solidFill>
                <a:srgbClr val="EBFD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3999" u="none" cap="none" strike="noStrike">
              <a:solidFill>
                <a:srgbClr val="EBFD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3999" u="none" cap="none" strike="noStrike">
              <a:solidFill>
                <a:srgbClr val="EBFD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3999" u="none" cap="none" strike="noStrike">
              <a:solidFill>
                <a:srgbClr val="EBFD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9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BFD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April 20,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"/>
          <p:cNvSpPr txBox="1"/>
          <p:nvPr/>
        </p:nvSpPr>
        <p:spPr>
          <a:xfrm>
            <a:off x="1361914" y="1315271"/>
            <a:ext cx="108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Custom Software Development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2402307" y="4104550"/>
            <a:ext cx="5978918" cy="609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28523" cy="282852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"/>
          <p:cNvSpPr txBox="1"/>
          <p:nvPr/>
        </p:nvSpPr>
        <p:spPr>
          <a:xfrm>
            <a:off x="2266150" y="741936"/>
            <a:ext cx="943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04F8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WHY TEVPRO?</a:t>
            </a:r>
            <a:endParaRPr b="0" i="0" sz="1400" u="none" cap="none" strike="noStrike">
              <a:solidFill>
                <a:srgbClr val="00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51" name="Google Shape;251;p2"/>
          <p:cNvSpPr txBox="1"/>
          <p:nvPr/>
        </p:nvSpPr>
        <p:spPr>
          <a:xfrm>
            <a:off x="2266150" y="1776587"/>
            <a:ext cx="168252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F8C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Founded to embody the principles of </a:t>
            </a:r>
            <a:r>
              <a:rPr b="1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Truth, Expertise, Value</a:t>
            </a:r>
            <a:endParaRPr b="0" i="0" sz="24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F8C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Highly-technical</a:t>
            </a: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consultants with </a:t>
            </a:r>
            <a:r>
              <a:rPr b="1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Enterprise, Mobile, and Web</a:t>
            </a: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software expertise</a:t>
            </a:r>
            <a:endParaRPr b="0" i="0" sz="24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F8C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Proven success taking Fortune 500, public, and SaaS solutions </a:t>
            </a:r>
            <a:r>
              <a:rPr b="1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from vision to reality</a:t>
            </a:r>
            <a:endParaRPr b="1" i="0" sz="24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F8C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Highest quality implementation model, </a:t>
            </a:r>
            <a:r>
              <a:rPr b="1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focused on project ROI </a:t>
            </a: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and time-to-market</a:t>
            </a:r>
            <a:endParaRPr b="0" i="0" sz="24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F8C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Microsoft partner with </a:t>
            </a:r>
            <a:r>
              <a:rPr b="1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white-glove service</a:t>
            </a: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throughout all client engagements </a:t>
            </a:r>
            <a:endParaRPr b="1" i="0" sz="24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404F8C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25+ customers, 100% customer success</a:t>
            </a:r>
            <a:r>
              <a:rPr b="0" i="0" lang="en-US" sz="24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4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OXY | Brands of the World™ | Download vector logos and logotypes" id="252" name="Google Shape;2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881" y="6272097"/>
            <a:ext cx="848548" cy="871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ie Home &amp; Auto Insurance Review: Great Rates and Commendable Service -  ValuePenguin" id="253" name="Google Shape;253;p2"/>
          <p:cNvPicPr preferRelativeResize="0"/>
          <p:nvPr/>
        </p:nvPicPr>
        <p:blipFill rotWithShape="1">
          <a:blip r:embed="rId5">
            <a:alphaModFix/>
          </a:blip>
          <a:srcRect b="20825" l="8351" r="7287" t="17884"/>
          <a:stretch/>
        </p:blipFill>
        <p:spPr>
          <a:xfrm>
            <a:off x="3791317" y="6428466"/>
            <a:ext cx="1308511" cy="559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quistion Positions Emerson As Largest Independent Provider Of Exploration  &amp; Production Software Solutions - Process Industry Informer" id="254" name="Google Shape;25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3464" y="8823177"/>
            <a:ext cx="887474" cy="685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illips 66 - Wikipedia" id="255" name="Google Shape;25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1280" y="7419500"/>
            <a:ext cx="876922" cy="92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66155" y="6272753"/>
            <a:ext cx="981328" cy="76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8700" y="7366995"/>
            <a:ext cx="876923" cy="924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33271" y="6571846"/>
            <a:ext cx="1664826" cy="367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3350" y="7639356"/>
            <a:ext cx="2656270" cy="37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66171" y="6154660"/>
            <a:ext cx="2656307" cy="143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48492" y="7073092"/>
            <a:ext cx="1589467" cy="163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70429" y="7510431"/>
            <a:ext cx="2187018" cy="63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994500" y="8823171"/>
            <a:ext cx="1429512" cy="3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632301" y="8686547"/>
            <a:ext cx="2187021" cy="66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"/>
          <p:cNvPicPr preferRelativeResize="0"/>
          <p:nvPr/>
        </p:nvPicPr>
        <p:blipFill rotWithShape="1">
          <a:blip r:embed="rId17">
            <a:alphaModFix/>
          </a:blip>
          <a:srcRect b="27526" l="0" r="0" t="39678"/>
          <a:stretch/>
        </p:blipFill>
        <p:spPr>
          <a:xfrm>
            <a:off x="5115482" y="8766095"/>
            <a:ext cx="2888361" cy="7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474952" y="8631936"/>
            <a:ext cx="2554724" cy="632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062050" y="5515437"/>
            <a:ext cx="2067850" cy="47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89874" y="5417432"/>
            <a:ext cx="1609646" cy="673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071565" y="5527750"/>
            <a:ext cx="1308500" cy="452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28700" y="5459225"/>
            <a:ext cx="2067861" cy="5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749712" y="5522412"/>
            <a:ext cx="2187023" cy="46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"/>
          <p:cNvPicPr preferRelativeResize="0"/>
          <p:nvPr/>
        </p:nvPicPr>
        <p:blipFill rotWithShape="1">
          <a:blip r:embed="rId3">
            <a:alphaModFix/>
          </a:blip>
          <a:srcRect b="119" l="0" r="0" t="118"/>
          <a:stretch/>
        </p:blipFill>
        <p:spPr>
          <a:xfrm rot="-5400000">
            <a:off x="0" y="4431942"/>
            <a:ext cx="5855058" cy="5855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9258300"/>
            <a:ext cx="2109535" cy="52211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"/>
          <p:cNvSpPr txBox="1"/>
          <p:nvPr/>
        </p:nvSpPr>
        <p:spPr>
          <a:xfrm>
            <a:off x="1028700" y="658250"/>
            <a:ext cx="1319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04F8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OUR LEADERSHIP TEAM</a:t>
            </a:r>
            <a:endParaRPr b="0" i="0" sz="1400" u="none" cap="none" strike="noStrike">
              <a:solidFill>
                <a:srgbClr val="00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279" name="Google Shape;2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5459477" y="-20436"/>
            <a:ext cx="2828523" cy="282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64475" y="2481424"/>
            <a:ext cx="2410500" cy="24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9830" y="2507936"/>
            <a:ext cx="2410502" cy="2357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"/>
          <p:cNvSpPr txBox="1"/>
          <p:nvPr/>
        </p:nvSpPr>
        <p:spPr>
          <a:xfrm>
            <a:off x="12554323" y="5009450"/>
            <a:ext cx="40113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ERIK WEST</a:t>
            </a:r>
            <a:endParaRPr b="1" i="0" sz="18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OWNER &amp; CPM/EPM PRINCIPAL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Experienced with CPM/EPM platforms, esp. OneStream and Oracle EPM/Hyperion</a:t>
            </a:r>
            <a:endParaRPr b="0" i="0" sz="1800" u="none" cap="none" strike="noStrike">
              <a:solidFill>
                <a:srgbClr val="404F8C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Background in custom software development and custom reporting</a:t>
            </a:r>
            <a:endParaRPr b="0" i="0" sz="18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Specializes in budgeting/ forecasting, driver based calculations, complex data integrations and multi-step allocations</a:t>
            </a:r>
            <a:endParaRPr b="0" i="0" sz="18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44526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F8C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144526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F8C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3" name="Google Shape;283;p3"/>
          <p:cNvSpPr txBox="1"/>
          <p:nvPr/>
        </p:nvSpPr>
        <p:spPr>
          <a:xfrm>
            <a:off x="2758126" y="5009450"/>
            <a:ext cx="43080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KEITH KIKTA</a:t>
            </a:r>
            <a:endParaRPr b="1" i="0" sz="18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OWNER &amp; TECHNOLOGY PRINCIPAL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Lifelong technologist, polyglot architect/developer</a:t>
            </a:r>
            <a:endParaRPr b="0" i="0" sz="18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Deep experience with backend architecture, data integrations and infrastructure management</a:t>
            </a:r>
            <a:endParaRPr b="0" i="0" sz="18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Specializes in high volume data ETL and custom process automation</a:t>
            </a:r>
            <a:endParaRPr b="0" i="0" sz="18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44526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F8C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44526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F8C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4" name="Google Shape;284;p3"/>
          <p:cNvSpPr txBox="1"/>
          <p:nvPr/>
        </p:nvSpPr>
        <p:spPr>
          <a:xfrm>
            <a:off x="7886748" y="5009450"/>
            <a:ext cx="40113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JUSTIN WALDRIP</a:t>
            </a:r>
            <a:endParaRPr b="1" i="0" sz="18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OWNER &amp; TECHNOLOGY PRINCIPAL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25 years experience in technology, development, architecture</a:t>
            </a:r>
            <a:endParaRPr b="0" i="0" sz="1800" u="none" cap="none" strike="noStrike">
              <a:solidFill>
                <a:srgbClr val="404F8C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Creator and chief developer on largest SaaS visitor management platform in US.</a:t>
            </a:r>
            <a:endParaRPr b="0" i="0" sz="18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33362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F8C"/>
              </a:buClr>
              <a:buSzPts val="1800"/>
              <a:buFont typeface="Open Sans Medium"/>
              <a:buChar char="⚬"/>
            </a:pPr>
            <a:r>
              <a:rPr b="0" i="0" lang="en-US" sz="1800" u="none" cap="none" strike="noStrike">
                <a:solidFill>
                  <a:srgbClr val="404F8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Specializes in cross-platform solutions, architecture to scale, and intuitive UIs</a:t>
            </a:r>
            <a:endParaRPr b="0" i="0" sz="18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44526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F8C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44526" lvl="2" marL="6254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F8C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85" name="Google Shape;285;p3"/>
          <p:cNvPicPr preferRelativeResize="0"/>
          <p:nvPr/>
        </p:nvPicPr>
        <p:blipFill rotWithShape="1">
          <a:blip r:embed="rId7">
            <a:alphaModFix/>
          </a:blip>
          <a:srcRect b="4603" l="0" r="0" t="4593"/>
          <a:stretch/>
        </p:blipFill>
        <p:spPr>
          <a:xfrm>
            <a:off x="8837588" y="2631875"/>
            <a:ext cx="2109600" cy="2109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2449508" y="4431942"/>
            <a:ext cx="5855058" cy="5855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28523" cy="282852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"/>
          <p:cNvSpPr txBox="1"/>
          <p:nvPr/>
        </p:nvSpPr>
        <p:spPr>
          <a:xfrm>
            <a:off x="1832013" y="815375"/>
            <a:ext cx="122064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ECOMMERCE MARKETPLACE</a:t>
            </a:r>
            <a:endParaRPr b="1" i="0" sz="41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4"/>
          <p:cNvSpPr txBox="1"/>
          <p:nvPr/>
        </p:nvSpPr>
        <p:spPr>
          <a:xfrm>
            <a:off x="1832025" y="1912350"/>
            <a:ext cx="9076200" cy="7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When America's most loved motorcycle brand wanted to connect bike inventories from over 700 franchise dealerships into one single</a:t>
            </a:r>
            <a:b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Marketplace, they turned to Tevpro for help.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DATA INTEGRATIONS: </a:t>
            </a:r>
            <a:endParaRPr b="1" i="0" sz="2200" u="none" cap="none" strike="noStrike">
              <a:solidFill>
                <a:srgbClr val="404F8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We engineered sophisticated data integrations to connect disparate </a:t>
            </a:r>
            <a:b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inventories into one cohesive platform. 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TECHNOLOGIES USED: </a:t>
            </a:r>
            <a:endParaRPr b="1" i="0" sz="2200" u="none" cap="none" strike="noStrike">
              <a:solidFill>
                <a:srgbClr val="404F8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Azure Service Bus, Kubernetes, Redis, and MongoDB.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404F8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BENEFITS DELIVERED: </a:t>
            </a:r>
            <a:endParaRPr b="1" i="0" sz="2200" u="none" cap="none" strike="noStrike">
              <a:solidFill>
                <a:srgbClr val="404F8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6A797D"/>
              </a:buClr>
              <a:buSzPts val="2200"/>
              <a:buFont typeface="Open Sans"/>
              <a:buChar char="●"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Seamless integration of disparate data sources from motorcycle</a:t>
            </a:r>
            <a:b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dealerships across the nation. 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797D"/>
              </a:buClr>
              <a:buSzPts val="2200"/>
              <a:buFont typeface="Open Sans"/>
              <a:buChar char="●"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Real-time updates to inventory and price changes. 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797D"/>
              </a:buClr>
              <a:buSzPts val="2200"/>
              <a:buFont typeface="Open Sans"/>
              <a:buChar char="●"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Dramatic ROI from the first of it’s kind pre-owned Certified motorcycle marketplace. 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4" name="Google Shape;294;p4"/>
          <p:cNvPicPr preferRelativeResize="0"/>
          <p:nvPr/>
        </p:nvPicPr>
        <p:blipFill rotWithShape="1">
          <a:blip r:embed="rId4">
            <a:alphaModFix/>
          </a:blip>
          <a:srcRect b="0" l="23529" r="17763" t="0"/>
          <a:stretch/>
        </p:blipFill>
        <p:spPr>
          <a:xfrm>
            <a:off x="13283461" y="815375"/>
            <a:ext cx="3437199" cy="585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06950" y="2843637"/>
            <a:ext cx="1496650" cy="117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06966" y="9258300"/>
            <a:ext cx="2109535" cy="52211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"/>
          <p:cNvSpPr txBox="1"/>
          <p:nvPr/>
        </p:nvSpPr>
        <p:spPr>
          <a:xfrm rot="-2700418">
            <a:off x="9622186" y="7563840"/>
            <a:ext cx="12206289" cy="630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CUSTOM SOFTWARE DEVELOPMENT </a:t>
            </a:r>
            <a:endParaRPr b="0" i="0" sz="2900" u="none" cap="none" strike="noStrike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2449508" y="4431942"/>
            <a:ext cx="5855058" cy="5855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28523" cy="282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06966" y="9258300"/>
            <a:ext cx="2109535" cy="52211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1832013" y="837300"/>
            <a:ext cx="122064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FIELD MOBILITY SOLUTIONS</a:t>
            </a:r>
            <a:endParaRPr b="1" i="0" sz="41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5"/>
          <p:cNvSpPr txBox="1"/>
          <p:nvPr/>
        </p:nvSpPr>
        <p:spPr>
          <a:xfrm>
            <a:off x="1832025" y="1836150"/>
            <a:ext cx="10217400" cy="8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Tevpro built a native mobile application to leverage real-time field data, increase field worker efficiency, and reduce the operational cost of maintaining a 24-hour call center.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DATA INTEGRATIONS </a:t>
            </a:r>
            <a:endParaRPr b="1" i="0" sz="2200" u="none" cap="none" strike="noStrike">
              <a:solidFill>
                <a:srgbClr val="404F8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We engineered sophisticated custom process to extract data from vast </a:t>
            </a:r>
            <a:b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oilfield sensor networks and SCADA systems and provided real-time access </a:t>
            </a:r>
            <a:b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to analyze this data in Microsoft Azure cloud.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TECHNOLOGIES USED</a:t>
            </a:r>
            <a:endParaRPr b="1" i="0" sz="2200" u="none" cap="none" strike="noStrike">
              <a:solidFill>
                <a:srgbClr val="404F8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Angular, Ionic Framework, and C# .NET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BENEFITS DELIVERED: </a:t>
            </a:r>
            <a:endParaRPr b="1" i="0" sz="2200" u="none" cap="none" strike="noStrike">
              <a:solidFill>
                <a:srgbClr val="404F8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6A797D"/>
              </a:buClr>
              <a:buSzPts val="2200"/>
              <a:buFont typeface="Open Sans"/>
              <a:buChar char="●"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Real-time alerts, access to analyze field data, and immediate technician dispatch.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797D"/>
              </a:buClr>
              <a:buSzPts val="2200"/>
              <a:buFont typeface="Open Sans"/>
              <a:buChar char="●"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Improves productivity and efficiency of field technicians.</a:t>
            </a:r>
            <a:endParaRPr b="0" i="0" sz="22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797D"/>
              </a:buClr>
              <a:buSzPts val="2200"/>
              <a:buFont typeface="Open Sans"/>
              <a:buChar char="●"/>
            </a:pPr>
            <a:r>
              <a:rPr b="0" i="0" lang="en-US" sz="2200" u="none" cap="none" strike="noStrike">
                <a:solidFill>
                  <a:srgbClr val="6A797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Reduce  reliance on call center administrative processes and minimizing operational downtime.</a:t>
            </a:r>
            <a:endParaRPr b="0" i="0" sz="2300" u="none" cap="none" strike="noStrike">
              <a:solidFill>
                <a:srgbClr val="6A797D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7" name="Google Shape;307;p5"/>
          <p:cNvPicPr preferRelativeResize="0"/>
          <p:nvPr/>
        </p:nvPicPr>
        <p:blipFill rotWithShape="1">
          <a:blip r:embed="rId5">
            <a:alphaModFix/>
          </a:blip>
          <a:srcRect b="0" l="24704" r="0" t="0"/>
          <a:stretch/>
        </p:blipFill>
        <p:spPr>
          <a:xfrm>
            <a:off x="14111911" y="1050325"/>
            <a:ext cx="3226839" cy="272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XY | Brands of the World™ | Download vector logos and logotypes" id="308" name="Google Shape;30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45614" y="2307451"/>
            <a:ext cx="1470075" cy="14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5"/>
          <p:cNvSpPr txBox="1"/>
          <p:nvPr/>
        </p:nvSpPr>
        <p:spPr>
          <a:xfrm rot="-2700418">
            <a:off x="9622186" y="7563840"/>
            <a:ext cx="12206289" cy="630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CUSTOM SOFTWARE DEVELOPMENT </a:t>
            </a:r>
            <a:endParaRPr b="0" i="0" sz="2900" u="none" cap="none" strike="noStrike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6"/>
          <p:cNvPicPr preferRelativeResize="0"/>
          <p:nvPr/>
        </p:nvPicPr>
        <p:blipFill rotWithShape="1">
          <a:blip r:embed="rId3">
            <a:alphaModFix/>
          </a:blip>
          <a:srcRect b="8519" l="0" r="0" t="8527"/>
          <a:stretch/>
        </p:blipFill>
        <p:spPr>
          <a:xfrm>
            <a:off x="0" y="0"/>
            <a:ext cx="18288001" cy="1028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6"/>
          <p:cNvPicPr preferRelativeResize="0"/>
          <p:nvPr/>
        </p:nvPicPr>
        <p:blipFill rotWithShape="1">
          <a:blip r:embed="rId4">
            <a:alphaModFix/>
          </a:blip>
          <a:srcRect b="119" l="0" r="0" t="118"/>
          <a:stretch/>
        </p:blipFill>
        <p:spPr>
          <a:xfrm rot="5400000">
            <a:off x="12432942" y="0"/>
            <a:ext cx="5855058" cy="5855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4952" y="8631936"/>
            <a:ext cx="2554724" cy="63229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"/>
          <p:cNvSpPr txBox="1"/>
          <p:nvPr/>
        </p:nvSpPr>
        <p:spPr>
          <a:xfrm>
            <a:off x="1535934" y="1640265"/>
            <a:ext cx="137502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7000" u="none" cap="none" strike="noStrik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KEY METRICS OF SUCCESS</a:t>
            </a:r>
            <a:endParaRPr b="0" i="0" sz="1400" u="none" cap="none" strike="noStrike">
              <a:solidFill>
                <a:srgbClr val="00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1535925" y="3412200"/>
            <a:ext cx="15679800" cy="4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Our goal is 100% customer success.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Every client, every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1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2260" lvl="2" marL="90678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⚬"/>
            </a:pPr>
            <a:r>
              <a:rPr b="0" i="0" lang="en-US" sz="28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right size, the right team - the right Technology partner </a:t>
            </a:r>
            <a:endParaRPr b="0" i="0" sz="28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2260" lvl="2" marL="90678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⚬"/>
            </a:pPr>
            <a:r>
              <a:rPr b="0" i="0" lang="en-US" sz="28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Our company leadership is technical and hands-on</a:t>
            </a:r>
            <a:endParaRPr b="0" i="0" sz="28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2260" lvl="2" marL="90678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⚬"/>
            </a:pPr>
            <a:r>
              <a:rPr b="0" i="0" lang="en-US" sz="28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Dedicated Team - full focus on your success</a:t>
            </a:r>
            <a:endParaRPr b="0" i="0" sz="28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2260" lvl="2" marL="90678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⚬"/>
            </a:pPr>
            <a:r>
              <a:rPr b="0" i="0" lang="en-US" sz="28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Tevpro’s motivation: creating elegant, quality solutions that add value &amp; solve problems</a:t>
            </a:r>
            <a:endParaRPr b="0" i="0" sz="28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2260" lvl="2" marL="906780" marR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2800"/>
              <a:buFont typeface="Open Sans Light"/>
              <a:buChar char="⚬"/>
            </a:pPr>
            <a:r>
              <a:rPr b="0" i="0" lang="en-US" sz="28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Better value with better results</a:t>
            </a:r>
            <a:endParaRPr b="0" i="0" sz="28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04F8C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7"/>
          <p:cNvPicPr preferRelativeResize="0"/>
          <p:nvPr/>
        </p:nvPicPr>
        <p:blipFill rotWithShape="1">
          <a:blip r:embed="rId3">
            <a:alphaModFix/>
          </a:blip>
          <a:srcRect b="0" l="32307" r="32312" t="0"/>
          <a:stretch/>
        </p:blipFill>
        <p:spPr>
          <a:xfrm>
            <a:off x="10408" y="0"/>
            <a:ext cx="5488651" cy="1028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568" y="0"/>
            <a:ext cx="4293495" cy="429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0407" y="6172374"/>
            <a:ext cx="4349838" cy="411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638342" y="495300"/>
            <a:ext cx="2860720" cy="286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195629" y="5600700"/>
            <a:ext cx="1979398" cy="197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7"/>
          <p:cNvSpPr txBox="1"/>
          <p:nvPr/>
        </p:nvSpPr>
        <p:spPr>
          <a:xfrm>
            <a:off x="7382150" y="2521925"/>
            <a:ext cx="9626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99"/>
              <a:buFont typeface="Open Sans"/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SCOPE </a:t>
            </a:r>
            <a:endParaRPr b="0" i="0" sz="1400" u="none" cap="none" strike="noStrike">
              <a:solidFill>
                <a:srgbClr val="00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329" name="Google Shape;32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74952" y="8631936"/>
            <a:ext cx="2554724" cy="632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/>
          <p:nvPr/>
        </p:nvSpPr>
        <p:spPr>
          <a:xfrm>
            <a:off x="13964984" y="-1"/>
            <a:ext cx="4356600" cy="10287000"/>
          </a:xfrm>
          <a:prstGeom prst="rect">
            <a:avLst/>
          </a:prstGeom>
          <a:solidFill>
            <a:srgbClr val="404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8"/>
          <p:cNvPicPr preferRelativeResize="0"/>
          <p:nvPr/>
        </p:nvPicPr>
        <p:blipFill rotWithShape="1">
          <a:blip r:embed="rId3">
            <a:alphaModFix/>
          </a:blip>
          <a:srcRect b="0" l="33225" r="33225" t="0"/>
          <a:stretch/>
        </p:blipFill>
        <p:spPr>
          <a:xfrm>
            <a:off x="13974125" y="9375"/>
            <a:ext cx="4293502" cy="863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3968475" y="3924300"/>
            <a:ext cx="4318775" cy="47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28048" y="3421"/>
            <a:ext cx="4293495" cy="429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4390055" y="3086100"/>
            <a:ext cx="3072329" cy="307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6764000" y="89471"/>
            <a:ext cx="1396768" cy="1396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4249400" y="6825129"/>
            <a:ext cx="1069038" cy="1069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78000" y="8635280"/>
            <a:ext cx="2554724" cy="63229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8"/>
          <p:cNvSpPr txBox="1"/>
          <p:nvPr/>
        </p:nvSpPr>
        <p:spPr>
          <a:xfrm>
            <a:off x="960750" y="554150"/>
            <a:ext cx="1204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04F8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SCOPE - BILL TRACKING MVP</a:t>
            </a:r>
            <a:endParaRPr b="0" i="0" sz="4800" u="none" cap="none" strike="noStrike">
              <a:solidFill>
                <a:srgbClr val="00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960750" y="1992450"/>
            <a:ext cx="7437600" cy="7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Mock UI Flow (mobile and desktop)</a:t>
            </a:r>
            <a:endParaRPr b="1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Login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User Management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Bill Search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Bill View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Staff Contact Tool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Setup PWA Framework</a:t>
            </a:r>
            <a:endParaRPr b="1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Build Authentication and User Mgmt</a:t>
            </a:r>
            <a:endParaRPr b="1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Auth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Profile Management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Roles and Feature flags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Document Ingestion</a:t>
            </a:r>
            <a:endParaRPr b="1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Scrapers/Crawlers to ingest and collect data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Document Processing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Document Storage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Search</a:t>
            </a:r>
            <a:endParaRPr b="1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Search Interface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2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■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Tracker</a:t>
            </a:r>
            <a:endParaRPr b="0" i="0" sz="2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8131150" y="1992450"/>
            <a:ext cx="54402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Timeline (8-10 Months)</a:t>
            </a:r>
            <a:endParaRPr b="1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Design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Architecture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Testing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Deployment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Dedicated Development Resources</a:t>
            </a:r>
            <a:endParaRPr b="1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Front-end FTE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Back-end FTE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Project Manager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1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F8C"/>
              </a:buClr>
              <a:buSzPts val="2200"/>
              <a:buFont typeface="Open Sans"/>
              <a:buChar char="○"/>
            </a:pP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 Partner, Principle 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Estimate Hours - </a:t>
            </a: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2,560 hours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Development Cost </a:t>
            </a:r>
            <a:r>
              <a:rPr b="0" i="0" lang="en-US" sz="22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- $350k</a:t>
            </a:r>
            <a:endParaRPr b="0" i="0" sz="2200" u="none" cap="none" strike="noStrike">
              <a:solidFill>
                <a:srgbClr val="404F8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8201650" y="7894175"/>
            <a:ext cx="529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*This is a time and materials estimate based on information known to date.  Tevpro always looks for how to leverage existing solutions to accelerate development time.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"/>
          <p:cNvSpPr/>
          <p:nvPr/>
        </p:nvSpPr>
        <p:spPr>
          <a:xfrm>
            <a:off x="13964984" y="-1"/>
            <a:ext cx="4356600" cy="10287000"/>
          </a:xfrm>
          <a:prstGeom prst="rect">
            <a:avLst/>
          </a:prstGeom>
          <a:solidFill>
            <a:srgbClr val="404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9"/>
          <p:cNvPicPr preferRelativeResize="0"/>
          <p:nvPr/>
        </p:nvPicPr>
        <p:blipFill rotWithShape="1">
          <a:blip r:embed="rId3">
            <a:alphaModFix/>
          </a:blip>
          <a:srcRect b="0" l="33224" r="33224" t="0"/>
          <a:stretch/>
        </p:blipFill>
        <p:spPr>
          <a:xfrm>
            <a:off x="13944600" y="9373"/>
            <a:ext cx="4323013" cy="863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28048" y="3421"/>
            <a:ext cx="4293495" cy="429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3944600" y="3924300"/>
            <a:ext cx="4342642" cy="472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4390055" y="3086100"/>
            <a:ext cx="3072329" cy="307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6764000" y="89471"/>
            <a:ext cx="1396768" cy="1396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4249400" y="6825129"/>
            <a:ext cx="1069038" cy="1069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78000" y="8635280"/>
            <a:ext cx="2554724" cy="63229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9"/>
          <p:cNvSpPr txBox="1"/>
          <p:nvPr/>
        </p:nvSpPr>
        <p:spPr>
          <a:xfrm>
            <a:off x="1028700" y="512125"/>
            <a:ext cx="1204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404F8C"/>
                </a:solidFill>
                <a:latin typeface="Open Sans"/>
                <a:ea typeface="Open Sans"/>
                <a:cs typeface="Open Sans"/>
                <a:sym typeface="Open Sans"/>
              </a:rPr>
              <a:t>SAMPLE PROJECT TIMELINE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13347275" y="1973750"/>
            <a:ext cx="3072300" cy="550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1" name="Google Shape;361;p9"/>
          <p:cNvGraphicFramePr/>
          <p:nvPr/>
        </p:nvGraphicFramePr>
        <p:xfrm>
          <a:off x="207650" y="2066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{21CBB7F8-54B3-4F80-ADF6-A66CC9201D0E}</a:tableStyleId>
              </a:tblPr>
              <a:tblGrid>
                <a:gridCol w="185537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580200"/>
                <a:gridCol w="402050"/>
                <a:gridCol w="491125"/>
                <a:gridCol w="513375"/>
                <a:gridCol w="468875"/>
                <a:gridCol w="491125"/>
                <a:gridCol w="535650"/>
                <a:gridCol w="446600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  <a:gridCol w="491125"/>
              </a:tblGrid>
              <a:tr h="354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June/July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August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Sept/Nov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January</a:t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February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March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</a:tr>
              <a:tr h="354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#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354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starting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12/13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12/27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1/17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1/31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2/7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2/14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2/21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2/28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3/21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3/28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4/11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4/18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4/25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5/23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5/30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6/13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Prep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 &amp; Design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up PWA Framework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 Authentication and User Mgmt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Ingestion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Build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Acceptance/Beta </a:t>
                      </a:r>
                      <a:b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Testing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chemeClr val="dk2"/>
                        </a:highlight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Cut-Over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 Support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 Time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 Live Support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 Time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</a:tbl>
          </a:graphicData>
        </a:graphic>
      </p:graphicFrame>
      <p:sp>
        <p:nvSpPr>
          <p:cNvPr id="362" name="Google Shape;362;p9"/>
          <p:cNvSpPr txBox="1"/>
          <p:nvPr/>
        </p:nvSpPr>
        <p:spPr>
          <a:xfrm>
            <a:off x="369175" y="7894175"/>
            <a:ext cx="1035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tentative timeline will be revised by the project team following detailed requirements and design meetings.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04F8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10"/>
          <p:cNvPicPr preferRelativeResize="0"/>
          <p:nvPr/>
        </p:nvPicPr>
        <p:blipFill rotWithShape="1">
          <a:blip r:embed="rId3">
            <a:alphaModFix/>
          </a:blip>
          <a:srcRect b="0" l="32309" r="32309" t="0"/>
          <a:stretch/>
        </p:blipFill>
        <p:spPr>
          <a:xfrm>
            <a:off x="0" y="-1"/>
            <a:ext cx="5499062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568" y="0"/>
            <a:ext cx="4293494" cy="429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-20993" y="5759052"/>
            <a:ext cx="4559121" cy="455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919674" y="-45736"/>
            <a:ext cx="2860720" cy="286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895600" y="7636307"/>
            <a:ext cx="1979398" cy="197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0"/>
          <p:cNvSpPr txBox="1"/>
          <p:nvPr/>
        </p:nvSpPr>
        <p:spPr>
          <a:xfrm>
            <a:off x="6951125" y="2543183"/>
            <a:ext cx="9030813" cy="1067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 txBox="1"/>
          <p:nvPr/>
        </p:nvSpPr>
        <p:spPr>
          <a:xfrm>
            <a:off x="7024674" y="3850947"/>
            <a:ext cx="90309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Requirements gathering/design meetings</a:t>
            </a:r>
            <a:endParaRPr b="0" i="0" sz="32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26695" lvl="1" marL="45339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0" i="0" lang="en-US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Draft detailed MVP/Scope</a:t>
            </a:r>
            <a:endParaRPr b="0" i="0" sz="32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26695" lvl="1" marL="45339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Finalize agreements (SOW)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4" name="Google Shape;37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74952" y="8631936"/>
            <a:ext cx="2554724" cy="632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