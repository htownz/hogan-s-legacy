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5143500" cx="9144000"/>
  <p:notesSz cx="6858000" cy="9144000"/>
  <p:embeddedFontLst>
    <p:embeddedFont>
      <p:font typeface="Montserrat"/>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hnMzWOj3MF3kyIQ64I82qYUcvs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regular.fntdata"/><Relationship Id="rId28" Type="http://schemas.openxmlformats.org/officeDocument/2006/relationships/font" Target="fonts/Montserrat-boldItalic.fntdata"/><Relationship Id="rId27" Type="http://schemas.openxmlformats.org/officeDocument/2006/relationships/font" Target="fonts/Montserrat-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259d037e20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259d037e20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59d037e203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59d037e203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59d037e203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59d037e203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58c7750b20_0_50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 name="Google Shape;78;g258c7750b20_0_50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Andy quick bio - why me, why now</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 name="Google Shape;84;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Andy quick bio - why me, why now</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59d037e203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g259d037e20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259d037e203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259d037e203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258c7750b20_0_4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g258c7750b20_0_4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“Wealth in and of itself is not problematic. It is how rich people convert financial might into political power for their own benefit that creates problems.”</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259d037e20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259d037e20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259d037e203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259d037e203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259d037e203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259d037e203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59d037e20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259d037e20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59d037e20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259d037e20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59d037e203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59d037e203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58c7750b20_0_4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g258c7750b20_0_4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“Wealth in and of itself is not problematic. It is how rich people convert financial might into political power for their own benefit that creates problems.”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59d037e203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59d037e203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258c7750b20_0_4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 name="Google Shape;162;g258c7750b20_0_4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“Wealth in and of itself is not problematic. It is how rich people convert financial might into political power for their own benefit that creates problems.”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58c7750b20_0_4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8" name="Google Shape;168;g258c7750b20_0_4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“Wealth in and of itself is not problematic. It is how rich people convert financial might into political power for their own benefit that creates problems.”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9"/>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9"/>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2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2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2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2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2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2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2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2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mt="31000"/>
          </a:blip>
          <a:srcRect b="0" l="0" r="0" t="0"/>
          <a:stretch/>
        </p:blipFill>
        <p:spPr>
          <a:xfrm>
            <a:off x="0" y="0"/>
            <a:ext cx="9144000" cy="5700300"/>
          </a:xfrm>
          <a:prstGeom prst="rect">
            <a:avLst/>
          </a:prstGeom>
          <a:noFill/>
          <a:ln>
            <a:noFill/>
          </a:ln>
        </p:spPr>
      </p:pic>
      <p:sp>
        <p:nvSpPr>
          <p:cNvPr id="55" name="Google Shape;55;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en"/>
              <a:t>Category Strategy</a:t>
            </a:r>
            <a:endParaRPr/>
          </a:p>
        </p:txBody>
      </p:sp>
      <p:sp>
        <p:nvSpPr>
          <p:cNvPr id="56" name="Google Shape;56;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3294"/>
              <a:buNone/>
            </a:pPr>
            <a:r>
              <a:rPr lang="en"/>
              <a:t>July 2023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g259d037e203_0_8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Category Design</a:t>
            </a:r>
            <a:endParaRPr/>
          </a:p>
        </p:txBody>
      </p:sp>
      <p:sp>
        <p:nvSpPr>
          <p:cNvPr id="62" name="Google Shape;62;g259d037e203_0_85"/>
          <p:cNvSpPr txBox="1"/>
          <p:nvPr>
            <p:ph idx="1" type="body"/>
          </p:nvPr>
        </p:nvSpPr>
        <p:spPr>
          <a:xfrm>
            <a:off x="311700" y="1152475"/>
            <a:ext cx="41133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AutoNum type="arabicPeriod"/>
            </a:pPr>
            <a:r>
              <a:rPr lang="en" sz="1600"/>
              <a:t>Winner take all - 76%+ of any market category goes to the winner</a:t>
            </a:r>
            <a:endParaRPr sz="1600"/>
          </a:p>
          <a:p>
            <a:pPr indent="-330200" lvl="0" marL="457200" rtl="0" algn="l">
              <a:spcBef>
                <a:spcPts val="0"/>
              </a:spcBef>
              <a:spcAft>
                <a:spcPts val="0"/>
              </a:spcAft>
              <a:buSzPts val="1600"/>
              <a:buAutoNum type="arabicPeriod"/>
            </a:pPr>
            <a:r>
              <a:rPr lang="en" sz="1600"/>
              <a:t>Categories have a natural lifecycle - ~15 years to a final king</a:t>
            </a:r>
            <a:endParaRPr sz="1600"/>
          </a:p>
          <a:p>
            <a:pPr indent="-304800" lvl="1" marL="914400" rtl="0" algn="l">
              <a:spcBef>
                <a:spcPts val="0"/>
              </a:spcBef>
              <a:spcAft>
                <a:spcPts val="0"/>
              </a:spcAft>
              <a:buSzPts val="1200"/>
              <a:buAutoNum type="alphaLcPeriod"/>
            </a:pPr>
            <a:r>
              <a:rPr lang="en" sz="1200"/>
              <a:t>Years 6-10 are the height. This is where Kings are made and typically when they issue IPO</a:t>
            </a:r>
            <a:endParaRPr sz="1200"/>
          </a:p>
          <a:p>
            <a:pPr indent="-330200" lvl="0" marL="457200" rtl="0" algn="l">
              <a:spcBef>
                <a:spcPts val="0"/>
              </a:spcBef>
              <a:spcAft>
                <a:spcPts val="0"/>
              </a:spcAft>
              <a:buSzPts val="1600"/>
              <a:buAutoNum type="arabicPeriod"/>
            </a:pPr>
            <a:r>
              <a:rPr lang="en" sz="1600"/>
              <a:t>The develop phase of the category lifecycle is where value creation accelerates.</a:t>
            </a:r>
            <a:endParaRPr sz="1600"/>
          </a:p>
          <a:p>
            <a:pPr indent="-330200" lvl="0" marL="457200" rtl="0" algn="l">
              <a:spcBef>
                <a:spcPts val="0"/>
              </a:spcBef>
              <a:spcAft>
                <a:spcPts val="0"/>
              </a:spcAft>
              <a:buSzPts val="1600"/>
              <a:buAutoNum type="arabicPeriod"/>
            </a:pPr>
            <a:r>
              <a:rPr lang="en" sz="1600"/>
              <a:t>Categories aren’t </a:t>
            </a:r>
            <a:r>
              <a:rPr lang="en" sz="1600"/>
              <a:t>stagnant</a:t>
            </a:r>
            <a:endParaRPr sz="1600"/>
          </a:p>
        </p:txBody>
      </p:sp>
      <p:pic>
        <p:nvPicPr>
          <p:cNvPr id="63" name="Google Shape;63;g259d037e203_0_85"/>
          <p:cNvPicPr preferRelativeResize="0"/>
          <p:nvPr/>
        </p:nvPicPr>
        <p:blipFill>
          <a:blip r:embed="rId3">
            <a:alphaModFix/>
          </a:blip>
          <a:stretch>
            <a:fillRect/>
          </a:stretch>
        </p:blipFill>
        <p:spPr>
          <a:xfrm>
            <a:off x="4425050" y="1287525"/>
            <a:ext cx="4280649" cy="300424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g259d037e203_0_9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Categories: How They Work</a:t>
            </a:r>
            <a:endParaRPr/>
          </a:p>
        </p:txBody>
      </p:sp>
      <p:sp>
        <p:nvSpPr>
          <p:cNvPr id="69" name="Google Shape;69;g259d037e203_0_9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334327" lvl="0" marL="457200" rtl="0" algn="l">
              <a:spcBef>
                <a:spcPts val="0"/>
              </a:spcBef>
              <a:spcAft>
                <a:spcPts val="0"/>
              </a:spcAft>
              <a:buSzPct val="100000"/>
              <a:buChar char="●"/>
            </a:pPr>
            <a:r>
              <a:rPr lang="en"/>
              <a:t>People use categories to literally organize products/ideas in their brains</a:t>
            </a:r>
            <a:endParaRPr/>
          </a:p>
          <a:p>
            <a:pPr indent="-334327" lvl="0" marL="457200" rtl="0" algn="l">
              <a:spcBef>
                <a:spcPts val="0"/>
              </a:spcBef>
              <a:spcAft>
                <a:spcPts val="0"/>
              </a:spcAft>
              <a:buSzPct val="100000"/>
              <a:buChar char="●"/>
            </a:pPr>
            <a:r>
              <a:rPr lang="en"/>
              <a:t>We like to have a filing system, put all the different brands and products in this system. This is how we identify categories.</a:t>
            </a:r>
            <a:endParaRPr/>
          </a:p>
          <a:p>
            <a:pPr indent="-334327" lvl="0" marL="457200" rtl="0" algn="l">
              <a:spcBef>
                <a:spcPts val="0"/>
              </a:spcBef>
              <a:spcAft>
                <a:spcPts val="0"/>
              </a:spcAft>
              <a:buSzPct val="100000"/>
              <a:buChar char="●"/>
            </a:pPr>
            <a:r>
              <a:rPr lang="en"/>
              <a:t>When you walk into a supermarket you see category definitions above every isle. The store is organized by </a:t>
            </a:r>
            <a:r>
              <a:rPr lang="en"/>
              <a:t>categories (mile in the back because most people need milk when they come in the store and have to pass the other categories to get to the dairy category section)</a:t>
            </a:r>
            <a:endParaRPr/>
          </a:p>
          <a:p>
            <a:pPr indent="-334327" lvl="0" marL="457200" rtl="0" algn="l">
              <a:spcBef>
                <a:spcPts val="0"/>
              </a:spcBef>
              <a:spcAft>
                <a:spcPts val="0"/>
              </a:spcAft>
              <a:buSzPct val="100000"/>
              <a:buChar char="●"/>
            </a:pPr>
            <a:r>
              <a:rPr lang="en"/>
              <a:t>Our brains are overstimulated by everything coming at us. More than 50 cognitive biases push us to decisions not based on facts and logic, but on instincts. Three primary cognitive biases include:</a:t>
            </a:r>
            <a:endParaRPr/>
          </a:p>
          <a:p>
            <a:pPr indent="-310832" lvl="1" marL="914400" rtl="0" algn="l">
              <a:spcBef>
                <a:spcPts val="0"/>
              </a:spcBef>
              <a:spcAft>
                <a:spcPts val="0"/>
              </a:spcAft>
              <a:buSzPct val="100000"/>
              <a:buChar char="○"/>
            </a:pPr>
            <a:r>
              <a:rPr lang="en"/>
              <a:t>Anchoring Effect: Early information effects all information that comes after</a:t>
            </a:r>
            <a:endParaRPr/>
          </a:p>
          <a:p>
            <a:pPr indent="-310832" lvl="1" marL="914400" rtl="0" algn="l">
              <a:spcBef>
                <a:spcPts val="0"/>
              </a:spcBef>
              <a:spcAft>
                <a:spcPts val="0"/>
              </a:spcAft>
              <a:buSzPct val="100000"/>
              <a:buChar char="○"/>
            </a:pPr>
            <a:r>
              <a:rPr lang="en"/>
              <a:t>Groupthink: We believe things because other people do. </a:t>
            </a:r>
            <a:endParaRPr/>
          </a:p>
          <a:p>
            <a:pPr indent="-310832" lvl="1" marL="914400" rtl="0" algn="l">
              <a:spcBef>
                <a:spcPts val="0"/>
              </a:spcBef>
              <a:spcAft>
                <a:spcPts val="0"/>
              </a:spcAft>
              <a:buSzPct val="100000"/>
              <a:buChar char="○"/>
            </a:pPr>
            <a:r>
              <a:rPr lang="en"/>
              <a:t>Choice Supportive: Once people choose a king they always tend to believe its better, even if its not.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259d037e203_0_10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Categories: How They Work</a:t>
            </a:r>
            <a:endParaRPr/>
          </a:p>
        </p:txBody>
      </p:sp>
      <p:sp>
        <p:nvSpPr>
          <p:cNvPr id="75" name="Google Shape;75;g259d037e203_0_10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g258c7750b20_0_50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11 </a:t>
            </a:r>
            <a:r>
              <a:rPr lang="en"/>
              <a:t>Facets</a:t>
            </a:r>
            <a:r>
              <a:rPr lang="en"/>
              <a:t> of a Company</a:t>
            </a:r>
            <a:endParaRPr/>
          </a:p>
        </p:txBody>
      </p:sp>
      <p:sp>
        <p:nvSpPr>
          <p:cNvPr id="81" name="Google Shape;81;g258c7750b20_0_505"/>
          <p:cNvSpPr txBox="1"/>
          <p:nvPr>
            <p:ph idx="1" type="body"/>
          </p:nvPr>
        </p:nvSpPr>
        <p:spPr>
          <a:xfrm>
            <a:off x="311700" y="1152475"/>
            <a:ext cx="8520600" cy="3918000"/>
          </a:xfrm>
          <a:prstGeom prst="rect">
            <a:avLst/>
          </a:prstGeom>
          <a:noFill/>
          <a:ln>
            <a:noFill/>
          </a:ln>
        </p:spPr>
        <p:txBody>
          <a:bodyPr anchorCtr="0" anchor="t" bIns="91425" lIns="91425" spcFirstLastPara="1" rIns="91425" wrap="square" tIns="91425">
            <a:normAutofit fontScale="92500" lnSpcReduction="10000"/>
          </a:bodyPr>
          <a:lstStyle/>
          <a:p>
            <a:pPr indent="-334327" lvl="0" marL="457200" rtl="0" algn="just">
              <a:lnSpc>
                <a:spcPct val="115000"/>
              </a:lnSpc>
              <a:spcBef>
                <a:spcPts val="0"/>
              </a:spcBef>
              <a:spcAft>
                <a:spcPts val="0"/>
              </a:spcAft>
              <a:buSzPct val="100000"/>
              <a:buAutoNum type="arabicPeriod"/>
            </a:pPr>
            <a:r>
              <a:rPr lang="en"/>
              <a:t>Vision Mission - product or market insight that led you to create the product</a:t>
            </a:r>
            <a:endParaRPr/>
          </a:p>
          <a:p>
            <a:pPr indent="-334327" lvl="0" marL="457200" rtl="0" algn="just">
              <a:lnSpc>
                <a:spcPct val="115000"/>
              </a:lnSpc>
              <a:spcBef>
                <a:spcPts val="0"/>
              </a:spcBef>
              <a:spcAft>
                <a:spcPts val="0"/>
              </a:spcAft>
              <a:buSzPct val="100000"/>
              <a:buAutoNum type="arabicPeriod"/>
            </a:pPr>
            <a:r>
              <a:rPr lang="en"/>
              <a:t>Customers - who are we </a:t>
            </a:r>
            <a:r>
              <a:rPr lang="en"/>
              <a:t>targeting</a:t>
            </a:r>
            <a:r>
              <a:rPr lang="en"/>
              <a:t> and who will use it</a:t>
            </a:r>
            <a:endParaRPr/>
          </a:p>
          <a:p>
            <a:pPr indent="-334327" lvl="0" marL="457200" rtl="0" algn="just">
              <a:lnSpc>
                <a:spcPct val="115000"/>
              </a:lnSpc>
              <a:spcBef>
                <a:spcPts val="0"/>
              </a:spcBef>
              <a:spcAft>
                <a:spcPts val="0"/>
              </a:spcAft>
              <a:buSzPct val="100000"/>
              <a:buAutoNum type="arabicPeriod"/>
            </a:pPr>
            <a:r>
              <a:rPr lang="en"/>
              <a:t>Problem statement - what’s the problem we can solve for potential customers</a:t>
            </a:r>
            <a:endParaRPr/>
          </a:p>
          <a:p>
            <a:pPr indent="-334327" lvl="0" marL="457200" rtl="0" algn="just">
              <a:lnSpc>
                <a:spcPct val="115000"/>
              </a:lnSpc>
              <a:spcBef>
                <a:spcPts val="0"/>
              </a:spcBef>
              <a:spcAft>
                <a:spcPts val="0"/>
              </a:spcAft>
              <a:buSzPct val="100000"/>
              <a:buAutoNum type="arabicPeriod"/>
            </a:pPr>
            <a:r>
              <a:rPr lang="en"/>
              <a:t>Use Cases - </a:t>
            </a:r>
            <a:r>
              <a:rPr lang="en"/>
              <a:t>specific</a:t>
            </a:r>
            <a:r>
              <a:rPr lang="en"/>
              <a:t> ways people will use product to solve their problem</a:t>
            </a:r>
            <a:endParaRPr/>
          </a:p>
          <a:p>
            <a:pPr indent="-334327" lvl="0" marL="457200" rtl="0" algn="just">
              <a:lnSpc>
                <a:spcPct val="115000"/>
              </a:lnSpc>
              <a:spcBef>
                <a:spcPts val="0"/>
              </a:spcBef>
              <a:spcAft>
                <a:spcPts val="0"/>
              </a:spcAft>
              <a:buSzPct val="100000"/>
              <a:buAutoNum type="arabicPeriod"/>
            </a:pPr>
            <a:r>
              <a:rPr lang="en"/>
              <a:t>Product Solution - detailed description of tech behind solution</a:t>
            </a:r>
            <a:endParaRPr/>
          </a:p>
          <a:p>
            <a:pPr indent="-334327" lvl="0" marL="457200" rtl="0" algn="just">
              <a:lnSpc>
                <a:spcPct val="115000"/>
              </a:lnSpc>
              <a:spcBef>
                <a:spcPts val="0"/>
              </a:spcBef>
              <a:spcAft>
                <a:spcPts val="0"/>
              </a:spcAft>
              <a:buSzPct val="100000"/>
              <a:buAutoNum type="arabicPeriod"/>
            </a:pPr>
            <a:r>
              <a:rPr lang="en"/>
              <a:t>Ecosystem - other companies involved in solving </a:t>
            </a:r>
            <a:r>
              <a:rPr lang="en"/>
              <a:t>problem, where are control points of leverage</a:t>
            </a:r>
            <a:endParaRPr/>
          </a:p>
          <a:p>
            <a:pPr indent="-334327" lvl="0" marL="457200" rtl="0" algn="just">
              <a:lnSpc>
                <a:spcPct val="115000"/>
              </a:lnSpc>
              <a:spcBef>
                <a:spcPts val="0"/>
              </a:spcBef>
              <a:spcAft>
                <a:spcPts val="0"/>
              </a:spcAft>
              <a:buSzPct val="100000"/>
              <a:buAutoNum type="arabicPeriod"/>
            </a:pPr>
            <a:r>
              <a:rPr lang="en"/>
              <a:t>Competition - who’s trying to or will jump in to solve our problem</a:t>
            </a:r>
            <a:endParaRPr/>
          </a:p>
          <a:p>
            <a:pPr indent="-334327" lvl="0" marL="457200" rtl="0" algn="just">
              <a:lnSpc>
                <a:spcPct val="115000"/>
              </a:lnSpc>
              <a:spcBef>
                <a:spcPts val="0"/>
              </a:spcBef>
              <a:spcAft>
                <a:spcPts val="0"/>
              </a:spcAft>
              <a:buSzPct val="100000"/>
              <a:buAutoNum type="arabicPeriod"/>
            </a:pPr>
            <a:r>
              <a:rPr lang="en"/>
              <a:t>Business Model - how will product or service change business for customers</a:t>
            </a:r>
            <a:endParaRPr/>
          </a:p>
          <a:p>
            <a:pPr indent="-334327" lvl="0" marL="457200" rtl="0" algn="just">
              <a:lnSpc>
                <a:spcPct val="115000"/>
              </a:lnSpc>
              <a:spcBef>
                <a:spcPts val="0"/>
              </a:spcBef>
              <a:spcAft>
                <a:spcPts val="0"/>
              </a:spcAft>
              <a:buSzPct val="100000"/>
              <a:buAutoNum type="arabicPeriod"/>
            </a:pPr>
            <a:r>
              <a:rPr lang="en"/>
              <a:t>Sales and Go To Market - How will product go to market and how will they found out about our solution</a:t>
            </a:r>
            <a:endParaRPr/>
          </a:p>
          <a:p>
            <a:pPr indent="-334327" lvl="0" marL="457200" rtl="0" algn="just">
              <a:lnSpc>
                <a:spcPct val="115000"/>
              </a:lnSpc>
              <a:spcBef>
                <a:spcPts val="0"/>
              </a:spcBef>
              <a:spcAft>
                <a:spcPts val="0"/>
              </a:spcAft>
              <a:buSzPct val="100000"/>
              <a:buAutoNum type="arabicPeriod"/>
            </a:pPr>
            <a:r>
              <a:rPr lang="en"/>
              <a:t>Organization - How are decisions made, who are major influencers</a:t>
            </a:r>
            <a:endParaRPr/>
          </a:p>
          <a:p>
            <a:pPr indent="-334327" lvl="0" marL="457200" rtl="0" algn="just">
              <a:lnSpc>
                <a:spcPct val="115000"/>
              </a:lnSpc>
              <a:spcBef>
                <a:spcPts val="0"/>
              </a:spcBef>
              <a:spcAft>
                <a:spcPts val="0"/>
              </a:spcAft>
              <a:buSzPct val="100000"/>
              <a:buAutoNum type="arabicPeriod"/>
            </a:pPr>
            <a:r>
              <a:rPr lang="en"/>
              <a:t>Funding - what is next funding event? Runway before more funding needed? etc. </a:t>
            </a:r>
            <a:endParaRPr/>
          </a:p>
          <a:p>
            <a:pPr indent="-171450" lvl="0" marL="285750" rtl="0" algn="l">
              <a:lnSpc>
                <a:spcPct val="115000"/>
              </a:lnSpc>
              <a:spcBef>
                <a:spcPts val="0"/>
              </a:spcBef>
              <a:spcAft>
                <a:spcPts val="0"/>
              </a:spcAft>
              <a:buSzPct val="100000"/>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The Three Questions</a:t>
            </a:r>
            <a:endParaRPr/>
          </a:p>
        </p:txBody>
      </p:sp>
      <p:sp>
        <p:nvSpPr>
          <p:cNvPr id="87" name="Google Shape;87;p2"/>
          <p:cNvSpPr txBox="1"/>
          <p:nvPr>
            <p:ph idx="1" type="body"/>
          </p:nvPr>
        </p:nvSpPr>
        <p:spPr>
          <a:xfrm>
            <a:off x="311700" y="1152475"/>
            <a:ext cx="8520600" cy="1419275"/>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AutoNum type="arabicPeriod"/>
            </a:pPr>
            <a:r>
              <a:rPr lang="en"/>
              <a:t>Can you explain the problem you are trying to solve like a five year old?</a:t>
            </a:r>
            <a:endParaRPr/>
          </a:p>
          <a:p>
            <a:pPr indent="-342900" lvl="0" marL="457200" rtl="0" algn="just">
              <a:lnSpc>
                <a:spcPct val="115000"/>
              </a:lnSpc>
              <a:spcBef>
                <a:spcPts val="0"/>
              </a:spcBef>
              <a:spcAft>
                <a:spcPts val="0"/>
              </a:spcAft>
              <a:buSzPts val="1800"/>
              <a:buAutoNum type="arabicPeriod"/>
            </a:pPr>
            <a:r>
              <a:rPr lang="en"/>
              <a:t>If your company solves this problem perfectly, what category are you in?</a:t>
            </a:r>
            <a:endParaRPr/>
          </a:p>
          <a:p>
            <a:pPr indent="-342900" lvl="0" marL="457200" rtl="0" algn="just">
              <a:lnSpc>
                <a:spcPct val="115000"/>
              </a:lnSpc>
              <a:spcBef>
                <a:spcPts val="0"/>
              </a:spcBef>
              <a:spcAft>
                <a:spcPts val="0"/>
              </a:spcAft>
              <a:buSzPts val="1800"/>
              <a:buAutoNum type="arabicPeriod"/>
            </a:pPr>
            <a:r>
              <a:rPr lang="en"/>
              <a:t>If you win 85% of that category, what’s the size of your category potential?</a:t>
            </a:r>
            <a:endParaRPr/>
          </a:p>
          <a:p>
            <a:pPr indent="-171450" lvl="0" marL="285750" rtl="0" algn="l">
              <a:lnSpc>
                <a:spcPct val="115000"/>
              </a:lnSpc>
              <a:spcBef>
                <a:spcPts val="0"/>
              </a:spcBef>
              <a:spcAft>
                <a:spcPts val="0"/>
              </a:spcAft>
              <a:buSzPts val="18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g259d037e203_0_0"/>
          <p:cNvSpPr txBox="1"/>
          <p:nvPr>
            <p:ph type="title"/>
          </p:nvPr>
        </p:nvSpPr>
        <p:spPr>
          <a:xfrm>
            <a:off x="311700" y="367600"/>
            <a:ext cx="8520600" cy="105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Category Design</a:t>
            </a:r>
            <a:endParaRPr/>
          </a:p>
          <a:p>
            <a:pPr indent="0" lvl="0" marL="0" rtl="0" algn="l">
              <a:lnSpc>
                <a:spcPct val="100000"/>
              </a:lnSpc>
              <a:spcBef>
                <a:spcPts val="0"/>
              </a:spcBef>
              <a:spcAft>
                <a:spcPts val="0"/>
              </a:spcAft>
              <a:buSzPct val="341463"/>
              <a:buNone/>
            </a:pPr>
            <a:r>
              <a:t/>
            </a:r>
            <a:endParaRPr sz="911"/>
          </a:p>
          <a:p>
            <a:pPr indent="0" lvl="0" marL="0" rtl="0" algn="ctr">
              <a:lnSpc>
                <a:spcPct val="115000"/>
              </a:lnSpc>
              <a:spcBef>
                <a:spcPts val="0"/>
              </a:spcBef>
              <a:spcAft>
                <a:spcPts val="0"/>
              </a:spcAft>
              <a:buNone/>
            </a:pPr>
            <a:r>
              <a:rPr lang="en" sz="1511">
                <a:solidFill>
                  <a:schemeClr val="dk2"/>
                </a:solidFill>
              </a:rPr>
              <a:t>Convert insight into a plan for a worthy category and craft language to shift the mindset and convince others to see things the way you do.</a:t>
            </a:r>
            <a:endParaRPr sz="2911"/>
          </a:p>
        </p:txBody>
      </p:sp>
      <p:sp>
        <p:nvSpPr>
          <p:cNvPr id="93" name="Google Shape;93;g259d037e203_0_0"/>
          <p:cNvSpPr txBox="1"/>
          <p:nvPr>
            <p:ph idx="1" type="body"/>
          </p:nvPr>
        </p:nvSpPr>
        <p:spPr>
          <a:xfrm>
            <a:off x="311700" y="1497725"/>
            <a:ext cx="4789800" cy="3475500"/>
          </a:xfrm>
          <a:prstGeom prst="rect">
            <a:avLst/>
          </a:prstGeom>
          <a:noFill/>
          <a:ln>
            <a:noFill/>
          </a:ln>
        </p:spPr>
        <p:txBody>
          <a:bodyPr anchorCtr="0" anchor="t" bIns="91425" lIns="91425" spcFirstLastPara="1" rIns="91425" wrap="square" tIns="91425">
            <a:normAutofit/>
          </a:bodyPr>
          <a:lstStyle/>
          <a:p>
            <a:pPr indent="-342900" lvl="0" marL="457200" rtl="0" algn="just">
              <a:lnSpc>
                <a:spcPct val="115000"/>
              </a:lnSpc>
              <a:spcBef>
                <a:spcPts val="0"/>
              </a:spcBef>
              <a:spcAft>
                <a:spcPts val="0"/>
              </a:spcAft>
              <a:buSzPts val="1800"/>
              <a:buAutoNum type="arabicPeriod"/>
            </a:pPr>
            <a:r>
              <a:rPr lang="en"/>
              <a:t>Identify the Problem</a:t>
            </a:r>
            <a:endParaRPr/>
          </a:p>
          <a:p>
            <a:pPr indent="-342900" lvl="0" marL="457200" rtl="0" algn="just">
              <a:lnSpc>
                <a:spcPct val="115000"/>
              </a:lnSpc>
              <a:spcBef>
                <a:spcPts val="0"/>
              </a:spcBef>
              <a:spcAft>
                <a:spcPts val="0"/>
              </a:spcAft>
              <a:buSzPts val="1800"/>
              <a:buAutoNum type="arabicPeriod"/>
            </a:pPr>
            <a:r>
              <a:rPr lang="en"/>
              <a:t>The Solution &amp; Category Name</a:t>
            </a:r>
            <a:endParaRPr/>
          </a:p>
          <a:p>
            <a:pPr indent="-342900" lvl="0" marL="457200" rtl="0" algn="just">
              <a:lnSpc>
                <a:spcPct val="115000"/>
              </a:lnSpc>
              <a:spcBef>
                <a:spcPts val="0"/>
              </a:spcBef>
              <a:spcAft>
                <a:spcPts val="0"/>
              </a:spcAft>
              <a:buSzPts val="1800"/>
              <a:buAutoNum type="arabicPeriod"/>
            </a:pPr>
            <a:r>
              <a:rPr lang="en"/>
              <a:t>The Category Blueprint &amp; Ecosystem</a:t>
            </a:r>
            <a:endParaRPr/>
          </a:p>
          <a:p>
            <a:pPr indent="-342900" lvl="0" marL="457200" rtl="0" algn="just">
              <a:lnSpc>
                <a:spcPct val="115000"/>
              </a:lnSpc>
              <a:spcBef>
                <a:spcPts val="0"/>
              </a:spcBef>
              <a:spcAft>
                <a:spcPts val="0"/>
              </a:spcAft>
              <a:buSzPts val="1800"/>
              <a:buAutoNum type="arabicPeriod"/>
            </a:pPr>
            <a:r>
              <a:rPr lang="en"/>
              <a:t>The Point of View</a:t>
            </a:r>
            <a:endParaRPr/>
          </a:p>
          <a:p>
            <a:pPr indent="-342900" lvl="0" marL="457200" rtl="0" algn="just">
              <a:lnSpc>
                <a:spcPct val="115000"/>
              </a:lnSpc>
              <a:spcBef>
                <a:spcPts val="0"/>
              </a:spcBef>
              <a:spcAft>
                <a:spcPts val="0"/>
              </a:spcAft>
              <a:buSzPts val="1800"/>
              <a:buAutoNum type="arabicPeriod"/>
            </a:pPr>
            <a:r>
              <a:rPr lang="en"/>
              <a:t>Lightning Strike Execution</a:t>
            </a:r>
            <a:endParaRPr/>
          </a:p>
          <a:p>
            <a:pPr indent="-342900" lvl="0" marL="457200" rtl="0" algn="just">
              <a:lnSpc>
                <a:spcPct val="115000"/>
              </a:lnSpc>
              <a:spcBef>
                <a:spcPts val="0"/>
              </a:spcBef>
              <a:spcAft>
                <a:spcPts val="0"/>
              </a:spcAft>
              <a:buSzPts val="1800"/>
              <a:buAutoNum type="arabicPeriod"/>
            </a:pPr>
            <a:r>
              <a:rPr lang="en"/>
              <a:t>Strike Ops Flywheel</a:t>
            </a:r>
            <a:endParaRPr/>
          </a:p>
          <a:p>
            <a:pPr indent="-171450" lvl="0" marL="285750" rtl="0" algn="l">
              <a:lnSpc>
                <a:spcPct val="115000"/>
              </a:lnSpc>
              <a:spcBef>
                <a:spcPts val="0"/>
              </a:spcBef>
              <a:spcAft>
                <a:spcPts val="0"/>
              </a:spcAft>
              <a:buSzPts val="1800"/>
              <a:buNone/>
            </a:pPr>
            <a:r>
              <a:t/>
            </a:r>
            <a:endParaRPr/>
          </a:p>
        </p:txBody>
      </p:sp>
      <p:pic>
        <p:nvPicPr>
          <p:cNvPr id="94" name="Google Shape;94;g259d037e203_0_0"/>
          <p:cNvPicPr preferRelativeResize="0"/>
          <p:nvPr/>
        </p:nvPicPr>
        <p:blipFill>
          <a:blip r:embed="rId3">
            <a:alphaModFix/>
          </a:blip>
          <a:stretch>
            <a:fillRect/>
          </a:stretch>
        </p:blipFill>
        <p:spPr>
          <a:xfrm>
            <a:off x="5253900" y="1572700"/>
            <a:ext cx="2822701" cy="34184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259d037e203_0_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Identify the Problem</a:t>
            </a:r>
            <a:endParaRPr/>
          </a:p>
        </p:txBody>
      </p:sp>
      <p:sp>
        <p:nvSpPr>
          <p:cNvPr id="100" name="Google Shape;100;g259d037e203_0_56"/>
          <p:cNvSpPr txBox="1"/>
          <p:nvPr>
            <p:ph idx="1" type="body"/>
          </p:nvPr>
        </p:nvSpPr>
        <p:spPr>
          <a:xfrm>
            <a:off x="311700" y="1152475"/>
            <a:ext cx="5166000" cy="37965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t/>
            </a:r>
            <a:endParaRPr/>
          </a:p>
          <a:p>
            <a:pPr indent="0" lvl="0" marL="0" rtl="0" algn="l">
              <a:spcBef>
                <a:spcPts val="0"/>
              </a:spcBef>
              <a:spcAft>
                <a:spcPts val="0"/>
              </a:spcAft>
              <a:buNone/>
            </a:pPr>
            <a:r>
              <a:rPr lang="en"/>
              <a:t>Who is our audience now and in the future?</a:t>
            </a:r>
            <a:endParaRPr/>
          </a:p>
          <a:p>
            <a:pPr indent="-290830" lvl="2" marL="1371600" rtl="0" algn="l">
              <a:spcBef>
                <a:spcPts val="0"/>
              </a:spcBef>
              <a:spcAft>
                <a:spcPts val="0"/>
              </a:spcAft>
              <a:buSzPct val="100000"/>
              <a:buChar char="■"/>
            </a:pPr>
            <a:r>
              <a:rPr lang="en"/>
              <a:t>Current GR folks</a:t>
            </a:r>
            <a:endParaRPr/>
          </a:p>
          <a:p>
            <a:pPr indent="-290830" lvl="2" marL="1371600" rtl="0" algn="l">
              <a:spcBef>
                <a:spcPts val="0"/>
              </a:spcBef>
              <a:spcAft>
                <a:spcPts val="0"/>
              </a:spcAft>
              <a:buSzPct val="100000"/>
              <a:buChar char="■"/>
            </a:pPr>
            <a:r>
              <a:rPr lang="en"/>
              <a:t>General public</a:t>
            </a:r>
            <a:endParaRPr/>
          </a:p>
          <a:p>
            <a:pPr indent="0" lvl="0" marL="1371600" rtl="0" algn="l">
              <a:spcBef>
                <a:spcPts val="0"/>
              </a:spcBef>
              <a:spcAft>
                <a:spcPts val="0"/>
              </a:spcAft>
              <a:buNone/>
            </a:pPr>
            <a:r>
              <a:t/>
            </a:r>
            <a:endParaRPr/>
          </a:p>
          <a:p>
            <a:pPr indent="0" lvl="0" marL="0" rtl="0" algn="l">
              <a:spcBef>
                <a:spcPts val="0"/>
              </a:spcBef>
              <a:spcAft>
                <a:spcPts val="0"/>
              </a:spcAft>
              <a:buNone/>
            </a:pPr>
            <a:r>
              <a:rPr lang="en"/>
              <a:t>What is their problem?</a:t>
            </a:r>
            <a:endParaRPr/>
          </a:p>
          <a:p>
            <a:pPr indent="-290830" lvl="2" marL="1371600" rtl="0" algn="l">
              <a:spcBef>
                <a:spcPts val="0"/>
              </a:spcBef>
              <a:spcAft>
                <a:spcPts val="0"/>
              </a:spcAft>
              <a:buSzPct val="100000"/>
              <a:buChar char="■"/>
            </a:pPr>
            <a:r>
              <a:rPr lang="en" u="sng"/>
              <a:t>Technology</a:t>
            </a:r>
            <a:endParaRPr u="sng"/>
          </a:p>
          <a:p>
            <a:pPr indent="-290830" lvl="3" marL="1828800" rtl="0" algn="l">
              <a:spcBef>
                <a:spcPts val="0"/>
              </a:spcBef>
              <a:spcAft>
                <a:spcPts val="0"/>
              </a:spcAft>
              <a:buSzPct val="100000"/>
              <a:buChar char="●"/>
            </a:pPr>
            <a:r>
              <a:rPr lang="en"/>
              <a:t>Lack of overall tech investment in space</a:t>
            </a:r>
            <a:endParaRPr/>
          </a:p>
          <a:p>
            <a:pPr indent="-290830" lvl="3" marL="1828800" rtl="0" algn="l">
              <a:spcBef>
                <a:spcPts val="0"/>
              </a:spcBef>
              <a:spcAft>
                <a:spcPts val="0"/>
              </a:spcAft>
              <a:buSzPct val="100000"/>
              <a:buChar char="●"/>
            </a:pPr>
            <a:r>
              <a:rPr lang="en"/>
              <a:t>No tools are easy to use and all are outdated</a:t>
            </a:r>
            <a:endParaRPr/>
          </a:p>
          <a:p>
            <a:pPr indent="-290830" lvl="3" marL="1828800" rtl="0" algn="l">
              <a:spcBef>
                <a:spcPts val="0"/>
              </a:spcBef>
              <a:spcAft>
                <a:spcPts val="0"/>
              </a:spcAft>
              <a:buSzPct val="100000"/>
              <a:buChar char="●"/>
            </a:pPr>
            <a:r>
              <a:rPr lang="en"/>
              <a:t>Terrible UI experiences</a:t>
            </a:r>
            <a:endParaRPr/>
          </a:p>
          <a:p>
            <a:pPr indent="-290830" lvl="3" marL="1828800" rtl="0" algn="l">
              <a:spcBef>
                <a:spcPts val="0"/>
              </a:spcBef>
              <a:spcAft>
                <a:spcPts val="0"/>
              </a:spcAft>
              <a:buSzPct val="100000"/>
              <a:buChar char="●"/>
            </a:pPr>
            <a:r>
              <a:rPr lang="en"/>
              <a:t>Does not make your job easier</a:t>
            </a:r>
            <a:endParaRPr/>
          </a:p>
          <a:p>
            <a:pPr indent="-290830" lvl="2" marL="1371600" rtl="0" algn="l">
              <a:spcBef>
                <a:spcPts val="0"/>
              </a:spcBef>
              <a:spcAft>
                <a:spcPts val="0"/>
              </a:spcAft>
              <a:buSzPct val="100000"/>
              <a:buChar char="■"/>
            </a:pPr>
            <a:r>
              <a:rPr lang="en" u="sng"/>
              <a:t>Affordability</a:t>
            </a:r>
            <a:endParaRPr u="sng"/>
          </a:p>
          <a:p>
            <a:pPr indent="-290830" lvl="3" marL="1828800" rtl="0" algn="l">
              <a:spcBef>
                <a:spcPts val="0"/>
              </a:spcBef>
              <a:spcAft>
                <a:spcPts val="0"/>
              </a:spcAft>
              <a:buSzPct val="100000"/>
              <a:buChar char="●"/>
            </a:pPr>
            <a:r>
              <a:rPr lang="en"/>
              <a:t>Current services can only be accessed by the wealthy or large organizations</a:t>
            </a:r>
            <a:endParaRPr/>
          </a:p>
          <a:p>
            <a:pPr indent="-290830" lvl="2" marL="1371600" rtl="0" algn="l">
              <a:spcBef>
                <a:spcPts val="0"/>
              </a:spcBef>
              <a:spcAft>
                <a:spcPts val="0"/>
              </a:spcAft>
              <a:buSzPct val="100000"/>
              <a:buChar char="■"/>
            </a:pPr>
            <a:r>
              <a:rPr lang="en" u="sng"/>
              <a:t>Access</a:t>
            </a:r>
            <a:endParaRPr u="sng"/>
          </a:p>
          <a:p>
            <a:pPr indent="-290830" lvl="3" marL="1828800" rtl="0" algn="l">
              <a:spcBef>
                <a:spcPts val="0"/>
              </a:spcBef>
              <a:spcAft>
                <a:spcPts val="0"/>
              </a:spcAft>
              <a:buSzPct val="100000"/>
              <a:buChar char="●"/>
            </a:pPr>
            <a:r>
              <a:rPr lang="en"/>
              <a:t>Only wealthy and/or well-connected currently have influence/a voice</a:t>
            </a:r>
            <a:endParaRPr/>
          </a:p>
          <a:p>
            <a:pPr indent="-290830" lvl="2" marL="1371600" rtl="0" algn="l">
              <a:spcBef>
                <a:spcPts val="0"/>
              </a:spcBef>
              <a:spcAft>
                <a:spcPts val="0"/>
              </a:spcAft>
              <a:buSzPct val="100000"/>
              <a:buChar char="■"/>
            </a:pPr>
            <a:r>
              <a:rPr lang="en" u="sng"/>
              <a:t>Knowledge &amp; Understanding</a:t>
            </a:r>
            <a:endParaRPr u="sng"/>
          </a:p>
          <a:p>
            <a:pPr indent="-290830" lvl="3" marL="1828800" rtl="0" algn="l">
              <a:spcBef>
                <a:spcPts val="0"/>
              </a:spcBef>
              <a:spcAft>
                <a:spcPts val="0"/>
              </a:spcAft>
              <a:buSzPct val="100000"/>
              <a:buChar char="●"/>
            </a:pPr>
            <a:r>
              <a:rPr lang="en"/>
              <a:t>Few have operational knowledge of legislative processes at state and local levels</a:t>
            </a:r>
            <a:endParaRPr/>
          </a:p>
          <a:p>
            <a:pPr indent="-290830" lvl="3" marL="1828800" rtl="0" algn="l">
              <a:spcBef>
                <a:spcPts val="0"/>
              </a:spcBef>
              <a:spcAft>
                <a:spcPts val="0"/>
              </a:spcAft>
              <a:buSzPct val="100000"/>
              <a:buChar char="●"/>
            </a:pPr>
            <a:r>
              <a:rPr lang="en"/>
              <a:t>Knowledge is critical in your ability to participate in and have influence on laws that affect you most</a:t>
            </a:r>
            <a:endParaRPr/>
          </a:p>
        </p:txBody>
      </p:sp>
      <p:sp>
        <p:nvSpPr>
          <p:cNvPr id="101" name="Google Shape;101;g259d037e203_0_56"/>
          <p:cNvSpPr txBox="1"/>
          <p:nvPr/>
        </p:nvSpPr>
        <p:spPr>
          <a:xfrm>
            <a:off x="5792400" y="1449925"/>
            <a:ext cx="30399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What are the day-to-day problem/s faced by our customers who track legislation for their job?</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can’t some people more effectively </a:t>
            </a:r>
            <a:r>
              <a:rPr lang="en"/>
              <a:t>advocacy</a:t>
            </a:r>
            <a:r>
              <a:rPr lang="en"/>
              <a:t> or have their voice heard (Uvalde parents, trans advocates, etc.)?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How are their lives being negatively </a:t>
            </a:r>
            <a:r>
              <a:rPr lang="en"/>
              <a:t>affected</a:t>
            </a:r>
            <a:r>
              <a:rPr lang="en"/>
              <a:t> by the current solutions?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2" name="Google Shape;102;g259d037e203_0_56"/>
          <p:cNvSpPr txBox="1"/>
          <p:nvPr/>
        </p:nvSpPr>
        <p:spPr>
          <a:xfrm>
            <a:off x="6102300" y="1033725"/>
            <a:ext cx="24201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t>Questions to Consider</a:t>
            </a:r>
            <a:endParaRPr b="1"/>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g258c7750b20_0_47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Why</a:t>
            </a:r>
            <a:endParaRPr/>
          </a:p>
        </p:txBody>
      </p:sp>
      <p:sp>
        <p:nvSpPr>
          <p:cNvPr id="108" name="Google Shape;108;g258c7750b20_0_470"/>
          <p:cNvSpPr txBox="1"/>
          <p:nvPr>
            <p:ph idx="1" type="body"/>
          </p:nvPr>
        </p:nvSpPr>
        <p:spPr>
          <a:xfrm>
            <a:off x="311700" y="1152475"/>
            <a:ext cx="8520600" cy="33096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just">
              <a:lnSpc>
                <a:spcPct val="115000"/>
              </a:lnSpc>
              <a:spcBef>
                <a:spcPts val="0"/>
              </a:spcBef>
              <a:spcAft>
                <a:spcPts val="0"/>
              </a:spcAft>
              <a:buNone/>
            </a:pPr>
            <a:r>
              <a:rPr lang="en"/>
              <a:t>Only a few wealthy and well-connected people have the political access to influence legislative policies that directly impact everyone’s community, career, and life.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n"/>
              <a:t>Everyone should have affordable access to advanced legislative technology that provides each user with the knowledge and legislative details necessary to participate in the process in minutes. </a:t>
            </a:r>
            <a:endParaRPr/>
          </a:p>
          <a:p>
            <a:pPr indent="0" lvl="0" marL="0" rtl="0" algn="just">
              <a:lnSpc>
                <a:spcPct val="115000"/>
              </a:lnSpc>
              <a:spcBef>
                <a:spcPts val="0"/>
              </a:spcBef>
              <a:spcAft>
                <a:spcPts val="0"/>
              </a:spcAft>
              <a:buNone/>
            </a:pPr>
            <a:r>
              <a:t/>
            </a:r>
            <a:endParaRPr/>
          </a:p>
          <a:p>
            <a:pPr indent="0" lvl="0" marL="0" rtl="0" algn="just">
              <a:lnSpc>
                <a:spcPct val="115000"/>
              </a:lnSpc>
              <a:spcBef>
                <a:spcPts val="0"/>
              </a:spcBef>
              <a:spcAft>
                <a:spcPts val="0"/>
              </a:spcAft>
              <a:buNone/>
            </a:pPr>
            <a:r>
              <a:rPr lang="en"/>
              <a:t>Governments</a:t>
            </a:r>
            <a:r>
              <a:rPr lang="en"/>
              <a:t> at every level are responsible to their voters AND their political donors. Technology and education can </a:t>
            </a:r>
            <a:r>
              <a:rPr lang="en"/>
              <a:t>empower everyone to have influence and ultimately force governments to be more responsible to more of the people they represent.</a:t>
            </a:r>
            <a:endParaRPr/>
          </a:p>
          <a:p>
            <a:pPr indent="-171450" lvl="0" marL="285750" rtl="0" algn="l">
              <a:lnSpc>
                <a:spcPct val="115000"/>
              </a:lnSpc>
              <a:spcBef>
                <a:spcPts val="0"/>
              </a:spcBef>
              <a:spcAft>
                <a:spcPts val="0"/>
              </a:spcAft>
              <a:buSzPct val="10000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259d037e203_0_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Identify the Problem: Points to Consider</a:t>
            </a:r>
            <a:endParaRPr/>
          </a:p>
        </p:txBody>
      </p:sp>
      <p:sp>
        <p:nvSpPr>
          <p:cNvPr id="114" name="Google Shape;114;g259d037e203_0_64"/>
          <p:cNvSpPr txBox="1"/>
          <p:nvPr>
            <p:ph idx="1" type="body"/>
          </p:nvPr>
        </p:nvSpPr>
        <p:spPr>
          <a:xfrm>
            <a:off x="754375" y="1309650"/>
            <a:ext cx="7709700" cy="34071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AutoNum type="arabicPeriod"/>
            </a:pPr>
            <a:r>
              <a:rPr lang="en"/>
              <a:t>It should generate a “that’s right” response from the person hearing it.</a:t>
            </a:r>
            <a:endParaRPr/>
          </a:p>
          <a:p>
            <a:pPr indent="-342900" lvl="0" marL="457200" rtl="0" algn="l">
              <a:spcBef>
                <a:spcPts val="0"/>
              </a:spcBef>
              <a:spcAft>
                <a:spcPts val="0"/>
              </a:spcAft>
              <a:buSzPts val="1800"/>
              <a:buAutoNum type="arabicPeriod"/>
            </a:pPr>
            <a:r>
              <a:rPr lang="en"/>
              <a:t>It needs to identify the problem itself, not a symptom of the problem. </a:t>
            </a:r>
            <a:endParaRPr/>
          </a:p>
          <a:p>
            <a:pPr indent="-342900" lvl="0" marL="457200" rtl="0" algn="l">
              <a:spcBef>
                <a:spcPts val="0"/>
              </a:spcBef>
              <a:spcAft>
                <a:spcPts val="0"/>
              </a:spcAft>
              <a:buSzPts val="1800"/>
              <a:buAutoNum type="arabicPeriod"/>
            </a:pPr>
            <a:r>
              <a:rPr lang="en"/>
              <a:t>It must always be the villain. It cannot be a “good guy” in other contexts.</a:t>
            </a:r>
            <a:endParaRPr/>
          </a:p>
          <a:p>
            <a:pPr indent="-342900" lvl="0" marL="457200" rtl="0" algn="l">
              <a:spcBef>
                <a:spcPts val="0"/>
              </a:spcBef>
              <a:spcAft>
                <a:spcPts val="0"/>
              </a:spcAft>
              <a:buSzPts val="1800"/>
              <a:buAutoNum type="arabicPeriod"/>
            </a:pPr>
            <a:r>
              <a:rPr lang="en"/>
              <a:t>It must not be so broad that it feels vague, abstract, or unsolvable. </a:t>
            </a:r>
            <a:endParaRPr/>
          </a:p>
          <a:p>
            <a:pPr indent="-342900" lvl="0" marL="457200" rtl="0" algn="l">
              <a:spcBef>
                <a:spcPts val="0"/>
              </a:spcBef>
              <a:spcAft>
                <a:spcPts val="0"/>
              </a:spcAft>
              <a:buSzPts val="1800"/>
              <a:buAutoNum type="arabicPeriod"/>
            </a:pPr>
            <a:r>
              <a:rPr lang="en"/>
              <a:t>It must not be so specific that we cut off future markets (local, public, etc)</a:t>
            </a:r>
            <a:endParaRPr/>
          </a:p>
          <a:p>
            <a:pPr indent="-342900" lvl="0" marL="457200" rtl="0" algn="l">
              <a:spcBef>
                <a:spcPts val="0"/>
              </a:spcBef>
              <a:spcAft>
                <a:spcPts val="0"/>
              </a:spcAft>
              <a:buSzPts val="1800"/>
              <a:buAutoNum type="arabicPeriod"/>
            </a:pPr>
            <a:r>
              <a:rPr lang="en"/>
              <a:t>It should be described in a way our customers talk about it.</a:t>
            </a:r>
            <a:endParaRPr/>
          </a:p>
          <a:p>
            <a:pPr indent="-342900" lvl="0" marL="457200" rtl="0" algn="l">
              <a:spcBef>
                <a:spcPts val="0"/>
              </a:spcBef>
              <a:spcAft>
                <a:spcPts val="0"/>
              </a:spcAft>
              <a:buSzPts val="1800"/>
              <a:buAutoNum type="arabicPeriod"/>
            </a:pPr>
            <a:r>
              <a:rPr lang="en"/>
              <a:t>It must be a problem our initial MVP actually solves.</a:t>
            </a:r>
            <a:endParaRPr/>
          </a:p>
          <a:p>
            <a:pPr indent="-342900" lvl="0" marL="457200" rtl="0" algn="l">
              <a:spcBef>
                <a:spcPts val="0"/>
              </a:spcBef>
              <a:spcAft>
                <a:spcPts val="0"/>
              </a:spcAft>
              <a:buSzPts val="1800"/>
              <a:buAutoNum type="arabicPeriod"/>
            </a:pPr>
            <a:r>
              <a:rPr lang="en"/>
              <a:t>The problem must cause our customers significant pain.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g259d037e203_0_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Solution</a:t>
            </a:r>
            <a:endParaRPr/>
          </a:p>
        </p:txBody>
      </p:sp>
      <p:sp>
        <p:nvSpPr>
          <p:cNvPr id="120" name="Google Shape;120;g259d037e203_0_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Frame out MVP</a:t>
            </a:r>
            <a:endParaRPr/>
          </a:p>
          <a:p>
            <a:pPr indent="-317500" lvl="1" marL="914400" rtl="0" algn="l">
              <a:spcBef>
                <a:spcPts val="0"/>
              </a:spcBef>
              <a:spcAft>
                <a:spcPts val="0"/>
              </a:spcAft>
              <a:buSzPts val="1400"/>
              <a:buChar char="○"/>
            </a:pPr>
            <a:r>
              <a:rPr lang="en"/>
              <a:t>Features</a:t>
            </a:r>
            <a:endParaRPr/>
          </a:p>
          <a:p>
            <a:pPr indent="-317500" lvl="1" marL="914400" rtl="0" algn="l">
              <a:spcBef>
                <a:spcPts val="0"/>
              </a:spcBef>
              <a:spcAft>
                <a:spcPts val="0"/>
              </a:spcAft>
              <a:buSzPts val="1400"/>
              <a:buChar char="○"/>
            </a:pPr>
            <a:r>
              <a:rPr lang="en"/>
              <a:t>Specific technologies used</a:t>
            </a:r>
            <a:endParaRPr/>
          </a:p>
          <a:p>
            <a:pPr indent="-317500" lvl="1" marL="914400" rtl="0" algn="l">
              <a:spcBef>
                <a:spcPts val="0"/>
              </a:spcBef>
              <a:spcAft>
                <a:spcPts val="0"/>
              </a:spcAft>
              <a:buSzPts val="1400"/>
              <a:buChar char="○"/>
            </a:pPr>
            <a:r>
              <a:rPr lang="en"/>
              <a:t>Add-</a:t>
            </a:r>
            <a:r>
              <a:rPr lang="en"/>
              <a:t>ons</a:t>
            </a:r>
            <a:endParaRPr/>
          </a:p>
          <a:p>
            <a:pPr indent="0" lvl="0" marL="914400" rtl="0" algn="l">
              <a:spcBef>
                <a:spcPts val="0"/>
              </a:spcBef>
              <a:spcAft>
                <a:spcPts val="0"/>
              </a:spcAft>
              <a:buNone/>
            </a:pPr>
            <a:r>
              <a:t/>
            </a:r>
            <a:endParaRPr/>
          </a:p>
          <a:p>
            <a:pPr indent="-342900" lvl="0" marL="457200" rtl="0" algn="l">
              <a:spcBef>
                <a:spcPts val="0"/>
              </a:spcBef>
              <a:spcAft>
                <a:spcPts val="0"/>
              </a:spcAft>
              <a:buSzPts val="1800"/>
              <a:buChar char="●"/>
            </a:pPr>
            <a:r>
              <a:rPr lang="en"/>
              <a:t>Benefits of MVP:</a:t>
            </a:r>
            <a:endParaRPr/>
          </a:p>
          <a:p>
            <a:pPr indent="-317500" lvl="1" marL="914400" rtl="0" algn="l">
              <a:spcBef>
                <a:spcPts val="0"/>
              </a:spcBef>
              <a:spcAft>
                <a:spcPts val="0"/>
              </a:spcAft>
              <a:buSzPts val="1400"/>
              <a:buChar char="○"/>
            </a:pPr>
            <a:r>
              <a:rPr lang="en"/>
              <a:t>Saving you time</a:t>
            </a:r>
            <a:endParaRPr/>
          </a:p>
          <a:p>
            <a:pPr indent="-317500" lvl="1" marL="914400" rtl="0" algn="l">
              <a:spcBef>
                <a:spcPts val="0"/>
              </a:spcBef>
              <a:spcAft>
                <a:spcPts val="0"/>
              </a:spcAft>
              <a:buSzPts val="1400"/>
              <a:buChar char="○"/>
            </a:pPr>
            <a:r>
              <a:rPr lang="en"/>
              <a:t>Increase quality of your work</a:t>
            </a:r>
            <a:endParaRPr/>
          </a:p>
          <a:p>
            <a:pPr indent="-317500" lvl="1" marL="914400" rtl="0" algn="l">
              <a:spcBef>
                <a:spcPts val="0"/>
              </a:spcBef>
              <a:spcAft>
                <a:spcPts val="0"/>
              </a:spcAft>
              <a:buSzPts val="1400"/>
              <a:buChar char="○"/>
            </a:pPr>
            <a:r>
              <a:rPr lang="en"/>
              <a:t>Increasing your knowledge/understanding</a:t>
            </a:r>
            <a:endParaRPr/>
          </a:p>
          <a:p>
            <a:pPr indent="-317500" lvl="1" marL="914400" rtl="0" algn="l">
              <a:spcBef>
                <a:spcPts val="0"/>
              </a:spcBef>
              <a:spcAft>
                <a:spcPts val="0"/>
              </a:spcAft>
              <a:buSzPts val="1400"/>
              <a:buChar char="○"/>
            </a:pPr>
            <a:r>
              <a:rPr lang="en"/>
              <a:t>Streamlined coordination and communication with your team/clients</a:t>
            </a:r>
            <a:endParaRPr/>
          </a:p>
          <a:p>
            <a:pPr indent="-317500" lvl="1" marL="914400" rtl="0" algn="l">
              <a:spcBef>
                <a:spcPts val="0"/>
              </a:spcBef>
              <a:spcAft>
                <a:spcPts val="0"/>
              </a:spcAft>
              <a:buSzPts val="1400"/>
              <a:buChar char="○"/>
            </a:pPr>
            <a:r>
              <a:rPr lang="en"/>
              <a:t>Affordability</a:t>
            </a:r>
            <a:endParaRPr/>
          </a:p>
          <a:p>
            <a:pPr indent="-317500" lvl="1" marL="914400" rtl="0" algn="l">
              <a:spcBef>
                <a:spcPts val="0"/>
              </a:spcBef>
              <a:spcAft>
                <a:spcPts val="0"/>
              </a:spcAft>
              <a:buSzPts val="1400"/>
              <a:buChar char="○"/>
            </a:pPr>
            <a:r>
              <a:rPr lang="en"/>
              <a:t>Access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g259d037e203_0_20"/>
          <p:cNvSpPr txBox="1"/>
          <p:nvPr>
            <p:ph type="title"/>
          </p:nvPr>
        </p:nvSpPr>
        <p:spPr>
          <a:xfrm>
            <a:off x="311700" y="2459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Category Story &amp; POV</a:t>
            </a:r>
            <a:endParaRPr/>
          </a:p>
        </p:txBody>
      </p:sp>
      <p:sp>
        <p:nvSpPr>
          <p:cNvPr id="126" name="Google Shape;126;g259d037e203_0_20"/>
          <p:cNvSpPr txBox="1"/>
          <p:nvPr>
            <p:ph idx="1" type="body"/>
          </p:nvPr>
        </p:nvSpPr>
        <p:spPr>
          <a:xfrm>
            <a:off x="4714125" y="1199350"/>
            <a:ext cx="4260300" cy="3416400"/>
          </a:xfrm>
          <a:prstGeom prst="rect">
            <a:avLst/>
          </a:prstGeom>
        </p:spPr>
        <p:txBody>
          <a:bodyPr anchorCtr="0" anchor="t" bIns="91425" lIns="91425" spcFirstLastPara="1" rIns="91425" wrap="square" tIns="91425">
            <a:normAutofit lnSpcReduction="10000"/>
          </a:bodyPr>
          <a:lstStyle/>
          <a:p>
            <a:pPr indent="0" lvl="0" marL="0" rtl="0" algn="l">
              <a:lnSpc>
                <a:spcPct val="95000"/>
              </a:lnSpc>
              <a:spcBef>
                <a:spcPts val="0"/>
              </a:spcBef>
              <a:spcAft>
                <a:spcPts val="0"/>
              </a:spcAft>
              <a:buNone/>
            </a:pPr>
            <a:r>
              <a:rPr lang="en" sz="1600"/>
              <a:t>Tell the world why a new category needs to exist. </a:t>
            </a:r>
            <a:endParaRPr sz="1600"/>
          </a:p>
          <a:p>
            <a:pPr indent="0" lvl="0" marL="457200" rtl="0" algn="l">
              <a:lnSpc>
                <a:spcPct val="95000"/>
              </a:lnSpc>
              <a:spcBef>
                <a:spcPts val="0"/>
              </a:spcBef>
              <a:spcAft>
                <a:spcPts val="0"/>
              </a:spcAft>
              <a:buNone/>
            </a:pPr>
            <a:r>
              <a:t/>
            </a:r>
            <a:endParaRPr sz="1600"/>
          </a:p>
          <a:p>
            <a:pPr indent="0" lvl="0" marL="0" rtl="0" algn="l">
              <a:lnSpc>
                <a:spcPct val="95000"/>
              </a:lnSpc>
              <a:spcBef>
                <a:spcPts val="0"/>
              </a:spcBef>
              <a:spcAft>
                <a:spcPts val="0"/>
              </a:spcAft>
              <a:buNone/>
            </a:pPr>
            <a:r>
              <a:rPr lang="en" sz="1600"/>
              <a:t>This can be a from-to narrative (POV)</a:t>
            </a:r>
            <a:endParaRPr sz="1600"/>
          </a:p>
          <a:p>
            <a:pPr indent="-304800" lvl="1" marL="914400" rtl="0" algn="l">
              <a:lnSpc>
                <a:spcPct val="95000"/>
              </a:lnSpc>
              <a:spcBef>
                <a:spcPts val="0"/>
              </a:spcBef>
              <a:spcAft>
                <a:spcPts val="0"/>
              </a:spcAft>
              <a:buSzPts val="1200"/>
              <a:buChar char="○"/>
            </a:pPr>
            <a:r>
              <a:rPr lang="en" sz="1200"/>
              <a:t>Moving the world from a former state (that was causing pain) to a future state (where that pain is resolved)</a:t>
            </a:r>
            <a:endParaRPr sz="1200"/>
          </a:p>
          <a:p>
            <a:pPr indent="-304800" lvl="1" marL="914400" rtl="0" algn="l">
              <a:lnSpc>
                <a:spcPct val="95000"/>
              </a:lnSpc>
              <a:spcBef>
                <a:spcPts val="0"/>
              </a:spcBef>
              <a:spcAft>
                <a:spcPts val="0"/>
              </a:spcAft>
              <a:buSzPts val="1200"/>
              <a:buChar char="○"/>
            </a:pPr>
            <a:r>
              <a:rPr lang="en" sz="1200"/>
              <a:t>Short </a:t>
            </a:r>
            <a:r>
              <a:rPr lang="en" sz="1200"/>
              <a:t>narrative</a:t>
            </a:r>
            <a:r>
              <a:rPr lang="en" sz="1200"/>
              <a:t> that shows the market what the world will look like once this new category is established.</a:t>
            </a:r>
            <a:endParaRPr sz="1200"/>
          </a:p>
          <a:p>
            <a:pPr indent="0" lvl="0" marL="914400" rtl="0" algn="l">
              <a:lnSpc>
                <a:spcPct val="95000"/>
              </a:lnSpc>
              <a:spcBef>
                <a:spcPts val="0"/>
              </a:spcBef>
              <a:spcAft>
                <a:spcPts val="0"/>
              </a:spcAft>
              <a:buNone/>
            </a:pPr>
            <a:r>
              <a:t/>
            </a:r>
            <a:endParaRPr sz="1200"/>
          </a:p>
          <a:p>
            <a:pPr indent="0" lvl="0" marL="0" rtl="0" algn="l">
              <a:lnSpc>
                <a:spcPct val="95000"/>
              </a:lnSpc>
              <a:spcBef>
                <a:spcPts val="0"/>
              </a:spcBef>
              <a:spcAft>
                <a:spcPts val="0"/>
              </a:spcAft>
              <a:buNone/>
            </a:pPr>
            <a:r>
              <a:rPr lang="en" sz="1600"/>
              <a:t>Or we can </a:t>
            </a:r>
            <a:r>
              <a:rPr lang="en" sz="1600"/>
              <a:t>consider a “strategic category narrative”</a:t>
            </a:r>
            <a:endParaRPr sz="1600"/>
          </a:p>
          <a:p>
            <a:pPr indent="-304800" lvl="1" marL="914400" rtl="0" algn="l">
              <a:lnSpc>
                <a:spcPct val="95000"/>
              </a:lnSpc>
              <a:spcBef>
                <a:spcPts val="0"/>
              </a:spcBef>
              <a:spcAft>
                <a:spcPts val="0"/>
              </a:spcAft>
              <a:buSzPts val="1200"/>
              <a:buChar char="○"/>
            </a:pPr>
            <a:r>
              <a:rPr lang="en" sz="1200"/>
              <a:t>Create a narrative about the “new game” that the winners are playing (and why the old game is obsolete)</a:t>
            </a:r>
            <a:endParaRPr sz="1200"/>
          </a:p>
          <a:p>
            <a:pPr indent="-304800" lvl="1" marL="914400" rtl="0" algn="l">
              <a:lnSpc>
                <a:spcPct val="95000"/>
              </a:lnSpc>
              <a:spcBef>
                <a:spcPts val="0"/>
              </a:spcBef>
              <a:spcAft>
                <a:spcPts val="0"/>
              </a:spcAft>
              <a:buSzPts val="1200"/>
              <a:buChar char="○"/>
            </a:pPr>
            <a:r>
              <a:rPr lang="en" sz="1200"/>
              <a:t>Winners address the problem this way and our product will help ensure you are a winner</a:t>
            </a:r>
            <a:endParaRPr sz="1200"/>
          </a:p>
        </p:txBody>
      </p:sp>
      <p:sp>
        <p:nvSpPr>
          <p:cNvPr id="127" name="Google Shape;127;g259d037e203_0_20"/>
          <p:cNvSpPr txBox="1"/>
          <p:nvPr/>
        </p:nvSpPr>
        <p:spPr>
          <a:xfrm>
            <a:off x="600900" y="783400"/>
            <a:ext cx="39711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200"/>
              <a:t>Highlight the pain that your audience experiences from the problem we defined earlier - aim for the gut. Emotional appeal.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Demonstrate how current approaches to solving this problem don’t exist or are no longer adequate. Why the problem sucks.</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Point to your new category as a new (and different) solution to solving this problem. Point to, but do not focus on the product. This is about selling the category, not the product. Create space our product will fill.</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Create contrast between life before the category and what life will be like after the category</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Cast a vision that can excite your customers, partners, and investors and serve as a north star for your company.</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rPr lang="en" sz="1200"/>
              <a:t>Strive for simplicity. Make them want to hear more about the story.</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59d037e203_0_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Category Story &amp; POV: Points to Consider</a:t>
            </a:r>
            <a:endParaRPr/>
          </a:p>
        </p:txBody>
      </p:sp>
      <p:sp>
        <p:nvSpPr>
          <p:cNvPr id="133" name="Google Shape;133;g259d037e203_0_5"/>
          <p:cNvSpPr txBox="1"/>
          <p:nvPr/>
        </p:nvSpPr>
        <p:spPr>
          <a:xfrm>
            <a:off x="555275" y="1119075"/>
            <a:ext cx="4081500" cy="3801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The basic idea is that a story’s hero is faced with a disruptive change to his world. The only way he can conquer this change is through some externally granted power. Once he wields this power, he’s able to surmount these challenges and return to a restored world that’s better than the one he left.</a:t>
            </a:r>
            <a:endParaRPr/>
          </a:p>
          <a:p>
            <a:pPr indent="0" lvl="0" marL="0" rtl="0" algn="ctr">
              <a:spcBef>
                <a:spcPts val="0"/>
              </a:spcBef>
              <a:spcAft>
                <a:spcPts val="0"/>
              </a:spcAft>
              <a:buNone/>
            </a:pPr>
            <a:r>
              <a:t/>
            </a:r>
            <a:endParaRPr/>
          </a:p>
          <a:p>
            <a:pPr indent="0" lvl="0" marL="0" rtl="0" algn="l">
              <a:spcBef>
                <a:spcPts val="0"/>
              </a:spcBef>
              <a:spcAft>
                <a:spcPts val="0"/>
              </a:spcAft>
              <a:buNone/>
            </a:pPr>
            <a:r>
              <a:rPr b="1" lang="en" sz="1300"/>
              <a:t>Act One: </a:t>
            </a:r>
            <a:r>
              <a:rPr lang="en" sz="1300"/>
              <a:t>The hero is pursuing some goal or dream.</a:t>
            </a:r>
            <a:endParaRPr sz="1300"/>
          </a:p>
          <a:p>
            <a:pPr indent="0" lvl="0" marL="0" rtl="0" algn="l">
              <a:spcBef>
                <a:spcPts val="0"/>
              </a:spcBef>
              <a:spcAft>
                <a:spcPts val="0"/>
              </a:spcAft>
              <a:buNone/>
            </a:pPr>
            <a:r>
              <a:t/>
            </a:r>
            <a:endParaRPr sz="900"/>
          </a:p>
          <a:p>
            <a:pPr indent="0" lvl="0" marL="0" rtl="0" algn="l">
              <a:spcBef>
                <a:spcPts val="0"/>
              </a:spcBef>
              <a:spcAft>
                <a:spcPts val="0"/>
              </a:spcAft>
              <a:buNone/>
            </a:pPr>
            <a:r>
              <a:rPr b="1" lang="en" sz="1300"/>
              <a:t>Act Two: </a:t>
            </a:r>
            <a:r>
              <a:rPr lang="en" sz="1300"/>
              <a:t>The hero faces challenges, temptations and setbacks that prevent him from reaching this goal. </a:t>
            </a:r>
            <a:endParaRPr sz="1300"/>
          </a:p>
          <a:p>
            <a:pPr indent="0" lvl="0" marL="0" rtl="0" algn="l">
              <a:spcBef>
                <a:spcPts val="0"/>
              </a:spcBef>
              <a:spcAft>
                <a:spcPts val="0"/>
              </a:spcAft>
              <a:buNone/>
            </a:pPr>
            <a:r>
              <a:t/>
            </a:r>
            <a:endParaRPr sz="900"/>
          </a:p>
          <a:p>
            <a:pPr indent="0" lvl="0" marL="0" rtl="0" algn="l">
              <a:spcBef>
                <a:spcPts val="0"/>
              </a:spcBef>
              <a:spcAft>
                <a:spcPts val="0"/>
              </a:spcAft>
              <a:buNone/>
            </a:pPr>
            <a:r>
              <a:rPr b="1" lang="en" sz="1300"/>
              <a:t>Act Three: </a:t>
            </a:r>
            <a:r>
              <a:rPr lang="en" sz="1300"/>
              <a:t>An external force </a:t>
            </a:r>
            <a:r>
              <a:rPr lang="en" sz="1300"/>
              <a:t>intervenes</a:t>
            </a:r>
            <a:r>
              <a:rPr lang="en" sz="1300"/>
              <a:t> to give the hero a special advantage. The hero conquers all </a:t>
            </a:r>
            <a:r>
              <a:rPr lang="en" sz="1300"/>
              <a:t>obstacles</a:t>
            </a:r>
            <a:r>
              <a:rPr lang="en" sz="1300"/>
              <a:t> and succeeds. </a:t>
            </a:r>
            <a:endParaRPr sz="1300"/>
          </a:p>
          <a:p>
            <a:pPr indent="0" lvl="0" marL="0" rtl="0" algn="l">
              <a:spcBef>
                <a:spcPts val="0"/>
              </a:spcBef>
              <a:spcAft>
                <a:spcPts val="0"/>
              </a:spcAft>
              <a:buNone/>
            </a:pPr>
            <a:r>
              <a:t/>
            </a:r>
            <a:endParaRPr/>
          </a:p>
        </p:txBody>
      </p:sp>
      <p:pic>
        <p:nvPicPr>
          <p:cNvPr id="134" name="Google Shape;134;g259d037e203_0_5"/>
          <p:cNvPicPr preferRelativeResize="0"/>
          <p:nvPr/>
        </p:nvPicPr>
        <p:blipFill>
          <a:blip r:embed="rId3">
            <a:alphaModFix/>
          </a:blip>
          <a:stretch>
            <a:fillRect/>
          </a:stretch>
        </p:blipFill>
        <p:spPr>
          <a:xfrm>
            <a:off x="4526275" y="1017725"/>
            <a:ext cx="3971025" cy="39474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59d037e203_0_9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Point of View</a:t>
            </a:r>
            <a:endParaRPr/>
          </a:p>
        </p:txBody>
      </p:sp>
      <p:sp>
        <p:nvSpPr>
          <p:cNvPr id="140" name="Google Shape;140;g259d037e203_0_9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Who is the bad guy? </a:t>
            </a:r>
            <a:endParaRPr/>
          </a:p>
          <a:p>
            <a:pPr indent="-342900" lvl="0" marL="457200" rtl="0" algn="l">
              <a:spcBef>
                <a:spcPts val="0"/>
              </a:spcBef>
              <a:spcAft>
                <a:spcPts val="0"/>
              </a:spcAft>
              <a:buSzPts val="1800"/>
              <a:buChar char="●"/>
            </a:pPr>
            <a:r>
              <a:rPr lang="en"/>
              <a:t>Not just Telicon</a:t>
            </a:r>
            <a:endParaRPr/>
          </a:p>
          <a:p>
            <a:pPr indent="-342900" lvl="0" marL="457200" rtl="0" algn="l">
              <a:spcBef>
                <a:spcPts val="0"/>
              </a:spcBef>
              <a:spcAft>
                <a:spcPts val="0"/>
              </a:spcAft>
              <a:buSzPts val="1800"/>
              <a:buChar char="●"/>
            </a:pPr>
            <a:r>
              <a:rPr lang="en"/>
              <a:t>Put a name to the bad guy. </a:t>
            </a:r>
            <a:endParaRPr/>
          </a:p>
          <a:p>
            <a:pPr indent="0" lvl="0" marL="0" rtl="0" algn="l">
              <a:spcBef>
                <a:spcPts val="0"/>
              </a:spcBef>
              <a:spcAft>
                <a:spcPts val="0"/>
              </a:spcAft>
              <a:buNone/>
            </a:pPr>
            <a:r>
              <a:rPr lang="en"/>
              <a:t>Who is the good guy?</a:t>
            </a:r>
            <a:endParaRPr/>
          </a:p>
          <a:p>
            <a:pPr indent="-342900" lvl="0" marL="457200" rtl="0" algn="l">
              <a:spcBef>
                <a:spcPts val="0"/>
              </a:spcBef>
              <a:spcAft>
                <a:spcPts val="0"/>
              </a:spcAft>
              <a:buSzPts val="1800"/>
              <a:buChar char="●"/>
            </a:pPr>
            <a:r>
              <a:rPr lang="en"/>
              <a:t>Not our product…the category</a:t>
            </a:r>
            <a:endParaRPr/>
          </a:p>
          <a:p>
            <a:pPr indent="-342900" lvl="0" marL="457200" rtl="0" algn="l">
              <a:spcBef>
                <a:spcPts val="0"/>
              </a:spcBef>
              <a:spcAft>
                <a:spcPts val="0"/>
              </a:spcAft>
              <a:buSzPts val="1800"/>
              <a:buChar char="●"/>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59d037e203_0_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Category Name</a:t>
            </a:r>
            <a:endParaRPr/>
          </a:p>
        </p:txBody>
      </p:sp>
      <p:sp>
        <p:nvSpPr>
          <p:cNvPr id="146" name="Google Shape;146;g259d037e203_0_26"/>
          <p:cNvSpPr txBox="1"/>
          <p:nvPr>
            <p:ph idx="1" type="body"/>
          </p:nvPr>
        </p:nvSpPr>
        <p:spPr>
          <a:xfrm>
            <a:off x="311700" y="1152475"/>
            <a:ext cx="8520600" cy="572700"/>
          </a:xfrm>
          <a:prstGeom prst="rect">
            <a:avLst/>
          </a:prstGeom>
        </p:spPr>
        <p:txBody>
          <a:bodyPr anchorCtr="0" anchor="t" bIns="91425" lIns="91425" spcFirstLastPara="1" rIns="91425" wrap="square" tIns="91425">
            <a:normAutofit fontScale="70000" lnSpcReduction="20000"/>
          </a:bodyPr>
          <a:lstStyle/>
          <a:p>
            <a:pPr indent="0" lvl="0" marL="0" rtl="0" algn="ctr">
              <a:spcBef>
                <a:spcPts val="0"/>
              </a:spcBef>
              <a:spcAft>
                <a:spcPts val="0"/>
              </a:spcAft>
              <a:buNone/>
            </a:pPr>
            <a:r>
              <a:rPr lang="en"/>
              <a:t>A short phrase that gives the category a </a:t>
            </a:r>
            <a:r>
              <a:rPr lang="en"/>
              <a:t>reference</a:t>
            </a:r>
            <a:r>
              <a:rPr lang="en"/>
              <a:t> point. It’s main job is to point our audience’s thinking in the right direction. Serves as a new phrase for a conversation starter for new category.</a:t>
            </a:r>
            <a:endParaRPr/>
          </a:p>
        </p:txBody>
      </p:sp>
      <p:sp>
        <p:nvSpPr>
          <p:cNvPr id="147" name="Google Shape;147;g259d037e203_0_26"/>
          <p:cNvSpPr txBox="1"/>
          <p:nvPr/>
        </p:nvSpPr>
        <p:spPr>
          <a:xfrm>
            <a:off x="400425" y="1859925"/>
            <a:ext cx="8107800" cy="2986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t>Avoid a category name that’s so broad that it could apply to a number of different problems and solutions. Something too similar may be written off as something your audience “already knows about.” But something too foreign may be too difficult to grasp.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Consider whether the category name should build upon familiar terms or be entirely new.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Make sure the category name isn’t already used in another context.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category name should be something that can stick in your mind and be pleasant to say.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Your category name doesn’t have to be perfect. It’s unlikely everyone on your team will agree on it. If it’s close enough, then move on. It may also morph over time. Listen to the market – if it changes it to an acronym, use the acronym. If it changes a word, adapt.</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258c7750b20_0_49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Market Insight</a:t>
            </a:r>
            <a:endParaRPr/>
          </a:p>
        </p:txBody>
      </p:sp>
      <p:sp>
        <p:nvSpPr>
          <p:cNvPr id="153" name="Google Shape;153;g258c7750b20_0_490"/>
          <p:cNvSpPr txBox="1"/>
          <p:nvPr/>
        </p:nvSpPr>
        <p:spPr>
          <a:xfrm>
            <a:off x="466775" y="1254350"/>
            <a:ext cx="8269800" cy="3344700"/>
          </a:xfrm>
          <a:prstGeom prst="rect">
            <a:avLst/>
          </a:prstGeom>
          <a:noFill/>
          <a:ln>
            <a:noFill/>
          </a:ln>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100">
                <a:solidFill>
                  <a:srgbClr val="293849"/>
                </a:solidFill>
                <a:highlight>
                  <a:srgbClr val="FFFFFF"/>
                </a:highlight>
                <a:latin typeface="Montserrat"/>
                <a:ea typeface="Montserrat"/>
                <a:cs typeface="Montserrat"/>
                <a:sym typeface="Montserrat"/>
              </a:rPr>
              <a:t>The global software as a service market size is expected to reach USD 819.23 billion by 2030, growing at a CAGR of 13.7% from 2023 to 2030.</a:t>
            </a:r>
            <a:endParaRPr sz="1100">
              <a:solidFill>
                <a:srgbClr val="293849"/>
              </a:solidFill>
              <a:highlight>
                <a:srgbClr val="FFFFFF"/>
              </a:highlight>
              <a:latin typeface="Montserrat"/>
              <a:ea typeface="Montserrat"/>
              <a:cs typeface="Montserrat"/>
              <a:sym typeface="Montserrat"/>
            </a:endParaRPr>
          </a:p>
          <a:p>
            <a:pPr indent="-298450" lvl="0" marL="457200" rtl="0" algn="l">
              <a:spcBef>
                <a:spcPts val="0"/>
              </a:spcBef>
              <a:spcAft>
                <a:spcPts val="0"/>
              </a:spcAft>
              <a:buClr>
                <a:srgbClr val="293849"/>
              </a:buClr>
              <a:buSzPts val="1100"/>
              <a:buFont typeface="Montserrat"/>
              <a:buChar char="●"/>
            </a:pPr>
            <a:r>
              <a:rPr lang="en" sz="1100">
                <a:solidFill>
                  <a:srgbClr val="293849"/>
                </a:solidFill>
                <a:highlight>
                  <a:srgbClr val="FFFFFF"/>
                </a:highlight>
                <a:latin typeface="Montserrat"/>
                <a:ea typeface="Montserrat"/>
                <a:cs typeface="Montserrat"/>
                <a:sym typeface="Montserrat"/>
              </a:rPr>
              <a:t>The rising trend towards mobile applications such as emails, video calls, and instant messaging further increases the usage of smart devices which further encourages the demand for software as a service (SaaS) during the forecast period.</a:t>
            </a:r>
            <a:endParaRPr sz="1100">
              <a:solidFill>
                <a:srgbClr val="293849"/>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293849"/>
              </a:buClr>
              <a:buSzPts val="1100"/>
              <a:buFont typeface="Montserrat"/>
              <a:buChar char="●"/>
            </a:pPr>
            <a:r>
              <a:rPr lang="en" sz="1100">
                <a:solidFill>
                  <a:srgbClr val="293849"/>
                </a:solidFill>
                <a:highlight>
                  <a:srgbClr val="FFFFFF"/>
                </a:highlight>
                <a:latin typeface="Montserrat"/>
                <a:ea typeface="Montserrat"/>
                <a:cs typeface="Montserrat"/>
                <a:sym typeface="Montserrat"/>
              </a:rPr>
              <a:t>The software segment led the market in 2022, accounting for over 84% share of the global revenue owing to a rise in the demand for cloud-based software outsourcing and an increase in the number of SMEs outsourcing</a:t>
            </a:r>
            <a:endParaRPr sz="1100">
              <a:solidFill>
                <a:srgbClr val="293849"/>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293849"/>
              </a:buClr>
              <a:buSzPts val="1100"/>
              <a:buFont typeface="Montserrat"/>
              <a:buChar char="●"/>
            </a:pPr>
            <a:r>
              <a:rPr lang="en" sz="1100">
                <a:solidFill>
                  <a:srgbClr val="293849"/>
                </a:solidFill>
                <a:highlight>
                  <a:srgbClr val="FFFFFF"/>
                </a:highlight>
                <a:latin typeface="Montserrat"/>
                <a:ea typeface="Montserrat"/>
                <a:cs typeface="Montserrat"/>
                <a:sym typeface="Montserrat"/>
              </a:rPr>
              <a:t>The private cloud segment held the largest revenue share of over 44% in 2022. Private clouds combine many advantages of cloud computing, such as ease of service delivery, scalability, security, elasticity, and resource personalization of on-premises infrastructure</a:t>
            </a:r>
            <a:endParaRPr sz="1100">
              <a:solidFill>
                <a:srgbClr val="293849"/>
              </a:solidFill>
              <a:highlight>
                <a:srgbClr val="FFFFFF"/>
              </a:highlight>
              <a:latin typeface="Montserrat"/>
              <a:ea typeface="Montserrat"/>
              <a:cs typeface="Montserrat"/>
              <a:sym typeface="Montserrat"/>
            </a:endParaRPr>
          </a:p>
          <a:p>
            <a:pPr indent="-298450" lvl="0" marL="457200" rtl="0" algn="l">
              <a:lnSpc>
                <a:spcPct val="115000"/>
              </a:lnSpc>
              <a:spcBef>
                <a:spcPts val="0"/>
              </a:spcBef>
              <a:spcAft>
                <a:spcPts val="0"/>
              </a:spcAft>
              <a:buClr>
                <a:srgbClr val="293849"/>
              </a:buClr>
              <a:buSzPts val="1100"/>
              <a:buFont typeface="Montserrat"/>
              <a:buChar char="●"/>
            </a:pPr>
            <a:r>
              <a:rPr lang="en" sz="1100">
                <a:solidFill>
                  <a:srgbClr val="293849"/>
                </a:solidFill>
                <a:highlight>
                  <a:srgbClr val="FFFFFF"/>
                </a:highlight>
                <a:latin typeface="Montserrat"/>
                <a:ea typeface="Montserrat"/>
                <a:cs typeface="Montserrat"/>
                <a:sym typeface="Montserrat"/>
              </a:rPr>
              <a:t>The large enterprises segment led the market in 2022, accounting for over 60% share of the global revenue. SaaS gives enterprises greater visibility and control over their cloud environments, allowing them to manage risk and compliance requirements better</a:t>
            </a:r>
            <a:endParaRPr sz="1100">
              <a:solidFill>
                <a:srgbClr val="293849"/>
              </a:solidFill>
              <a:highlight>
                <a:srgbClr val="FFFFFF"/>
              </a:highlight>
              <a:latin typeface="Montserrat"/>
              <a:ea typeface="Montserrat"/>
              <a:cs typeface="Montserrat"/>
              <a:sym typeface="Montserrat"/>
            </a:endParaRPr>
          </a:p>
          <a:p>
            <a:pPr indent="-298450" lvl="0" marL="457200" rtl="0" algn="l">
              <a:spcBef>
                <a:spcPts val="0"/>
              </a:spcBef>
              <a:spcAft>
                <a:spcPts val="0"/>
              </a:spcAft>
              <a:buClr>
                <a:srgbClr val="293849"/>
              </a:buClr>
              <a:buSzPts val="1100"/>
              <a:buFont typeface="Montserrat"/>
              <a:buChar char="●"/>
            </a:pPr>
            <a:r>
              <a:rPr lang="en" sz="1100">
                <a:solidFill>
                  <a:srgbClr val="293849"/>
                </a:solidFill>
                <a:highlight>
                  <a:srgbClr val="FFFFFF"/>
                </a:highlight>
                <a:latin typeface="Montserrat"/>
                <a:ea typeface="Montserrat"/>
                <a:cs typeface="Montserrat"/>
                <a:sym typeface="Montserrat"/>
              </a:rPr>
              <a:t>North America accounted for the largest share of over 44% of the global SaaS market. Software as a Service (SaaS) is a rapidly growing industry in North America, with many developments emerging in recent years. Cloud-based software solutions have become increasingly popular in North America due to their scalability, cost-effectiveness, and ease of use</a:t>
            </a:r>
            <a:endParaRPr sz="1100">
              <a:solidFill>
                <a:srgbClr val="293849"/>
              </a:solidFill>
              <a:highlight>
                <a:srgbClr val="FFFFFF"/>
              </a:highlight>
              <a:latin typeface="Montserrat"/>
              <a:ea typeface="Montserrat"/>
              <a:cs typeface="Montserrat"/>
              <a:sym typeface="Montserra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259d037e203_0_7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Lighting Strike</a:t>
            </a:r>
            <a:endParaRPr/>
          </a:p>
        </p:txBody>
      </p:sp>
      <p:sp>
        <p:nvSpPr>
          <p:cNvPr id="159" name="Google Shape;159;g259d037e203_0_7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258c7750b20_0_49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Technology</a:t>
            </a:r>
            <a:r>
              <a:rPr lang="en"/>
              <a:t> Insight</a:t>
            </a:r>
            <a:endParaRPr/>
          </a:p>
        </p:txBody>
      </p:sp>
      <p:sp>
        <p:nvSpPr>
          <p:cNvPr id="165" name="Google Shape;165;g258c7750b20_0_495"/>
          <p:cNvSpPr txBox="1"/>
          <p:nvPr>
            <p:ph idx="1" type="body"/>
          </p:nvPr>
        </p:nvSpPr>
        <p:spPr>
          <a:xfrm>
            <a:off x="311700" y="1152475"/>
            <a:ext cx="8520600" cy="3309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t/>
            </a:r>
            <a:endParaRPr/>
          </a:p>
          <a:p>
            <a:pPr indent="-171450" lvl="0" marL="285750" rtl="0" algn="l">
              <a:lnSpc>
                <a:spcPct val="115000"/>
              </a:lnSpc>
              <a:spcBef>
                <a:spcPts val="0"/>
              </a:spcBef>
              <a:spcAft>
                <a:spcPts val="0"/>
              </a:spcAft>
              <a:buSzPts val="18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258c7750b20_0_48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lang="en"/>
              <a:t>Category Potential</a:t>
            </a:r>
            <a:endParaRPr/>
          </a:p>
        </p:txBody>
      </p:sp>
      <p:sp>
        <p:nvSpPr>
          <p:cNvPr id="171" name="Google Shape;171;g258c7750b20_0_485"/>
          <p:cNvSpPr txBox="1"/>
          <p:nvPr>
            <p:ph idx="1" type="body"/>
          </p:nvPr>
        </p:nvSpPr>
        <p:spPr>
          <a:xfrm>
            <a:off x="311700" y="1152475"/>
            <a:ext cx="8520600" cy="3309600"/>
          </a:xfrm>
          <a:prstGeom prst="rect">
            <a:avLst/>
          </a:prstGeom>
          <a:noFill/>
          <a:ln>
            <a:noFill/>
          </a:ln>
        </p:spPr>
        <p:txBody>
          <a:bodyPr anchorCtr="0" anchor="t" bIns="91425" lIns="91425" spcFirstLastPara="1" rIns="91425" wrap="square" tIns="91425">
            <a:normAutofit/>
          </a:bodyPr>
          <a:lstStyle/>
          <a:p>
            <a:pPr indent="0" lvl="0" marL="0" rtl="0" algn="just">
              <a:lnSpc>
                <a:spcPct val="115000"/>
              </a:lnSpc>
              <a:spcBef>
                <a:spcPts val="0"/>
              </a:spcBef>
              <a:spcAft>
                <a:spcPts val="0"/>
              </a:spcAft>
              <a:buNone/>
            </a:pPr>
            <a:r>
              <a:t/>
            </a:r>
            <a:endParaRPr/>
          </a:p>
          <a:p>
            <a:pPr indent="-171450" lvl="0" marL="285750" rtl="0" algn="l">
              <a:lnSpc>
                <a:spcPct val="115000"/>
              </a:lnSpc>
              <a:spcBef>
                <a:spcPts val="0"/>
              </a:spcBef>
              <a:spcAft>
                <a:spcPts val="0"/>
              </a:spcAft>
              <a:buSzPts val="18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Ben Melson</dc:creator>
</cp:coreProperties>
</file>